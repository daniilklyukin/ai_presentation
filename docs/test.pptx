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657600"/>
            <a:ext cx="12192000" cy="2286000"/>
          </a:xfrm>
        </p:spPr>
        <p:txBody>
          <a:bodyPr wrap="square" anchor="t" lIns="360000" rIns="360000" tIns="46800" bIns="46800">
            <a:noAutofit/>
          </a:bodyPr>
          <a:lstStyle/>
          <a:p>
            <a:pPr algn="ctr"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Вот обновлённая версия презентации, в которой все математические формулы оформлены в формате LaTeX (как для рендеринга в Jupyter Notebook, R Markdown, или любой системе с MathJax / LaTeX). Формулы выделены </a:t>
            </a:r>
            <m:oMath xmlns:m="http://schemas.openxmlformats.org/officeDocument/2006/math" xmlns:mml="http://www.w3.org/1998/Math/MathML">
              <m:r>
                <m:t>...</m:t>
              </m:r>
            </m:oMath>
            <a:r>
              <a:rPr sz="2200" b="0" i="0">
                <a:latin typeface="Bookman Old Style"/>
              </a:rPr>
              <a:t> для выключных и </a:t>
            </a:r>
            <m:oMath xmlns:m="http://schemas.openxmlformats.org/officeDocument/2006/math" xmlns:mml="http://www.w3.org/1998/Math/MathML">
              <m:r>
                <m:t>...</m:t>
              </m:r>
            </m:oMath>
            <a:r>
              <a:rPr sz="2200" b="0" i="0">
                <a:latin typeface="Bookman Old Style"/>
              </a:rPr>
              <a:t> для внутритекстовых.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1. Математический анализ и Python: симбиоз для вычислений и визуализации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Подзаголовок: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От формул к работающему коду: как Python помогает понимать и применять матан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Автор: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(Ваше имя)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2. Зачем Python в математическом анализе?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Символьные вычисления</a:t>
            </a:r>
            <a:r>
              <a:rPr sz="2200" b="0" i="0">
                <a:latin typeface="Bookman Old Style"/>
              </a:rPr>
              <a:t> — производные, интегралы, пределы без ошибок вручную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Численные методы</a:t>
            </a:r>
            <a:r>
              <a:rPr sz="2200" b="0" i="0">
                <a:latin typeface="Bookman Old Style"/>
              </a:rPr>
              <a:t> — интегралы, которые не берутся аналитически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Визуализация</a:t>
            </a:r>
            <a:r>
              <a:rPr sz="2200" b="0" i="0">
                <a:latin typeface="Bookman Old Style"/>
              </a:rPr>
              <a:t> — графики функций, касательных, полей направлений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Автоматизация</a:t>
            </a:r>
            <a:r>
              <a:rPr sz="2200" b="0" i="0">
                <a:latin typeface="Bookman Old Style"/>
              </a:rPr>
              <a:t> — проверка гипотез, построение рядов Тейлора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latin typeface="Bookman Old Style"/>
              </a:rPr>
              <a:t>Обучение</a:t>
            </a:r>
            <a:r>
              <a:rPr sz="2200" b="0" i="0">
                <a:latin typeface="Bookman Old Style"/>
              </a:rPr>
              <a:t> — быстрые эксперименты, интерактивные графики (Jupyter)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1">
                <a:latin typeface="Bookman Old Style"/>
              </a:rPr>
              <a:t>«Слышу — забываю, вижу — запоминаю, делаю — понимаю»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3. Инструменты: основные библиотеки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/>
          <a:p>
            <a:pPr>
              <a:spcBef>
                <a:spcPts val="18507"/>
              </a:spcBef>
              <a:defRPr sz="100"/>
            </a:pP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sympy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as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numpy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as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matplotlib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pyplot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as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from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scipy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optimize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4/20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1000452"/>
          <a:ext cx="109728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Библиотека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Назначение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SymPy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latin typeface="Bookman Old Style"/>
                        </a:rPr>
                        <a:t>символьная математика (пределы, производные, интегралы, ряды)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NumPy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latin typeface="Bookman Old Style"/>
                        </a:rPr>
                        <a:t>массивы, векторизованные вычисления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SciPy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latin typeface="Bookman Old Style"/>
                        </a:rPr>
                        <a:t>численное интегрирование, ОДУ, оптимизация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latin typeface="Bookman Old Style"/>
                        </a:rPr>
                        <a:t>построение 2D и 3D графиков</a:t>
                      </a:r>
                    </a:p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800" b="1" i="0">
                          <a:latin typeface="Bookman Old Style"/>
                        </a:rPr>
                        <a:t>Plotly</a:t>
                      </a:r>
                      <a:r>
                        <a:rPr sz="1800" b="0" i="0">
                          <a:latin typeface="Bookman Old Style"/>
                        </a:rPr>
                        <a:t> (опционально)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i="0">
                          <a:latin typeface="Bookman Old Style"/>
                        </a:rPr>
                        <a:t>интерактивные графики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4. Символьные вычисления с SymPy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Объявление переменных и функций: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Упрощение, подстановка, красивая печать: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simplify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</a:t>
            </a:r>
            <a:r>
              <a:rPr sz="2000">
                <a:solidFill>
                  <a:srgbClr val="000000"/>
                </a:solidFill>
                <a:latin typeface="Courier New"/>
              </a:rPr>
              <a:t># -&gt; x + 1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subs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        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4*exp(-2)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init_printing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  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формула в LaTeX-стиле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Пример:</a:t>
            </a:r>
            <a:r>
              <a:rPr sz="2200" b="0" i="0">
                <a:latin typeface="Bookman Old Style"/>
              </a:rPr>
              <a:t> аналитическое преобразование </a:t>
            </a:r>
            <m:oMath xmlns:m="http://schemas.openxmlformats.org/officeDocument/2006/math" xmlns:mml="http://www.w3.org/1998/Math/MathML">
              <m:f>
                <m:fPr>
                  <m:type m:val="bar"/>
                </m:fPr>
                <m:num>
                  <m:sSup>
                    <m:e>
                      <m:r>
                        <m:t>x</m:t>
                      </m:r>
                    </m:e>
                    <m:sup>
                      <m:r>
                        <m:t>2</m:t>
                      </m:r>
                    </m:sup>
                  </m:sSup>
                  <m:r>
                    <m:t>−1</m:t>
                  </m:r>
                </m:num>
                <m:den>
                  <m:r>
                    <m:t>x−1</m:t>
                  </m:r>
                </m:den>
              </m:f>
              <m:r>
                <m:t>=x+1</m:t>
              </m:r>
            </m:oMath>
            <a:r>
              <a:rPr sz="2200" b="0" i="0">
                <a:latin typeface="Bookman Old Style"/>
              </a:rPr>
              <a:t> помогает понять поведение функции до численных расчётов.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5. Пределы функций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Символьное вычисление пределов: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limit1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limit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sin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-&gt; 1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limit2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limit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oo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# -&gt; E</a:t>
            </a:r>
          </a:p>
          <a:p>
            <a:pPr marL="0" indent="0" algn="ctr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Математически:</a:t>
            </a:r>
            <a:r>
              <a:rPr sz="2200" b="0" i="0">
                <a:latin typeface="Bookman Old Style"/>
              </a:rPr>
              <a:t>
</a:t>
            </a:r>
            <m:oMath xmlns:m="http://schemas.openxmlformats.org/officeDocument/2006/math" xmlns:mml="http://www.w3.org/1998/Math/MathML">
              <m:sSub>
                <m:e>
                  <m:r>
                    <m:t>lim</m:t>
                  </m:r>
                </m:e>
                <m:sub>
                  <m:r>
                    <m:t>x→0</m:t>
                  </m:r>
                </m:sub>
              </m:sSub>
              <m:f>
                <m:fPr>
                  <m:type m:val="bar"/>
                </m:fPr>
                <m:num>
                  <m:r>
                    <m:rPr>
                      <m:sty m:val="p"/>
                      <m:sz m:val="44"/>
                    </m:rPr>
                    <m:t>sin</m:t>
                  </m:r>
                  <m:r>
                    <m:t>x</m:t>
                  </m:r>
                </m:num>
                <m:den>
                  <m:r>
                    <m:t>x</m:t>
                  </m:r>
                </m:den>
              </m:f>
              <m:r>
                <m:t>=1,</m:t>
              </m:r>
              <m:sSub>
                <m:e>
                  <m:r>
                    <m:t>lim</m:t>
                  </m:r>
                </m:e>
                <m:sub>
                  <m:r>
                    <m:t>x→∞</m:t>
                  </m:r>
                </m:sub>
              </m:sSub>
              <m:sSup>
                <m:e>
                  <m:r>
                    <m:t>(1+</m:t>
                  </m:r>
                  <m:f>
                    <m:fPr>
                      <m:type m:val="bar"/>
                    </m:fPr>
                    <m:num>
                      <m:r>
                        <m:t>1</m:t>
                      </m:r>
                    </m:num>
                    <m:den>
                      <m:r>
                        <m:t>x</m:t>
                      </m:r>
                    </m:den>
                  </m:f>
                  <m:r>
                    <m:t>)</m:t>
                  </m:r>
                </m:e>
                <m:sup>
                  <m:r>
                    <m:t>x</m:t>
                  </m:r>
                </m:sup>
              </m:sSup>
              <m:r>
                <m:t>=e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Визуализация поведения вблизи точки: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numpy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as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matplotlib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pyplot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as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500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y_vals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sin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y_vals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scatter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color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red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zorder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title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$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lim_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to 0} 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frac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sin x}</a:t>
            </a:r>
            <a:r>
              <a:rPr sz="2000">
                <a:solidFill>
                  <a:srgbClr val="000000"/>
                </a:solidFill>
                <a:latin typeface="Courier New"/>
              </a:rPr>
              <a:t>{x}</a:t>
            </a:r>
            <a:r>
              <a:rPr sz="2000">
                <a:solidFill>
                  <a:srgbClr val="000000"/>
                </a:solidFill>
                <a:latin typeface="Courier New"/>
              </a:rPr>
              <a:t> = 1$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grid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True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5. Пределы функций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show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→ График наглядно показывает «устранимую особенность».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6. Производные: дифференцирование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Символьная производная: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3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3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f_prime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diff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</a:t>
            </a:r>
            <a:r>
              <a:rPr sz="2000">
                <a:solidFill>
                  <a:srgbClr val="000000"/>
                </a:solidFill>
                <a:latin typeface="Courier New"/>
              </a:rPr>
              <a:t># 3*x**2 - 6*x + 2</a:t>
            </a:r>
          </a:p>
          <a:p>
            <a:pPr marL="0" indent="0" algn="ctr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Математически:</a:t>
            </a:r>
            <a:r>
              <a:rPr sz="2200" b="0" i="0">
                <a:latin typeface="Bookman Old Style"/>
              </a:rPr>
              <a:t>
</a:t>
            </a:r>
            <m:oMath xmlns:m="http://schemas.openxmlformats.org/officeDocument/2006/math" xmlns:mml="http://www.w3.org/1998/Math/MathML">
              <m:r>
                <m:t>f(x)=</m:t>
              </m:r>
              <m:sSup>
                <m:e>
                  <m:r>
                    <m:t>x</m:t>
                  </m:r>
                </m:e>
                <m:sup>
                  <m:r>
                    <m:t>3</m:t>
                  </m:r>
                </m:sup>
              </m:sSup>
              <m:r>
                <m:t>−3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t>+2x</m:t>
              </m:r>
              <m:r>
                <m:t>⇒</m:t>
              </m:r>
              <m:sSup>
                <m:e>
                  <m:r>
                    <m:t>f</m:t>
                  </m:r>
                </m:e>
                <m:sup>
                  <m:r>
                    <m:t>′</m:t>
                  </m:r>
                </m:sup>
              </m:sSup>
              <m:r>
                <m:t>(x)=3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t>−6x+2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Частные производные (для нескольких переменных):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 y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g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sin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dg_dx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diff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g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2*x*y + y*cos(x*y)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dg_dy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diff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g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x**2 + x*cos(x*y)</a:t>
            </a:r>
          </a:p>
          <a:p>
            <a:pPr marL="0" indent="0" algn="ctr">
              <a:buNone/>
              <a:lnSpc>
                <a:spcPct val="115000"/>
              </a:lnSpc>
            </a:pPr>
            <m:oMath xmlns:m="http://schemas.openxmlformats.org/officeDocument/2006/math" xmlns:mml="http://www.w3.org/1998/Math/MathML">
              <m:f>
                <m:fPr>
                  <m:type m:val="bar"/>
                </m:fPr>
                <m:num>
                  <m:r>
                    <m:t>∂g</m:t>
                  </m:r>
                </m:num>
                <m:den>
                  <m:r>
                    <m:t>∂x</m:t>
                  </m:r>
                </m:den>
              </m:f>
              <m:r>
                <m:t>=2xy+y</m:t>
              </m:r>
              <m:r>
                <m:rPr>
                  <m:sty m:val="p"/>
                  <m:sz m:val="44"/>
                </m:rPr>
                <m:t>cos</m:t>
              </m:r>
              <m:r>
                <m:t>(xy),</m:t>
              </m:r>
              <m:f>
                <m:fPr>
                  <m:type m:val="bar"/>
                </m:fPr>
                <m:num>
                  <m:r>
                    <m:t>∂g</m:t>
                  </m:r>
                </m:num>
                <m:den>
                  <m:r>
                    <m:t>∂y</m:t>
                  </m:r>
                </m:den>
              </m:f>
              <m:r>
                <m:t>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t>+x</m:t>
              </m:r>
              <m:r>
                <m:rPr>
                  <m:sty m:val="p"/>
                  <m:sz m:val="44"/>
                </m:rPr>
                <m:t>cos</m:t>
              </m:r>
              <m:r>
                <m:t>(xy)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Градиент</a:t>
            </a:r>
            <a:r>
              <a:rPr sz="2200" b="0" i="0">
                <a:latin typeface="Bookman Old Style"/>
              </a:rPr>
              <a:t> </a:t>
            </a:r>
            <m:oMath xmlns:m="http://schemas.openxmlformats.org/officeDocument/2006/math" xmlns:mml="http://www.w3.org/1998/Math/MathML">
              <m:r>
                <m:t>∇g=</m:t>
              </m:r>
              <m:r>
                <m:t>(</m:t>
              </m:r>
              <m:f>
                <m:fPr>
                  <m:type m:val="bar"/>
                </m:fPr>
                <m:num>
                  <m:r>
                    <m:t>∂g</m:t>
                  </m:r>
                </m:num>
                <m:den>
                  <m:r>
                    <m:t>∂x</m:t>
                  </m:r>
                </m:den>
              </m:f>
              <m:r>
                <m:t>,</m:t>
              </m:r>
              <m:f>
                <m:fPr>
                  <m:type m:val="bar"/>
                </m:fPr>
                <m:num>
                  <m:r>
                    <m:t>∂g</m:t>
                  </m:r>
                </m:num>
                <m:den>
                  <m:r>
                    <m:t>∂y</m:t>
                  </m:r>
                </m:den>
              </m:f>
              <m:r>
                <m:t>)</m:t>
              </m:r>
            </m:oMath>
            <a:r>
              <a:rPr sz="2200" b="0" i="0">
                <a:latin typeface="Bookman Old Style"/>
              </a:rPr>
              <a:t> — Python вычисляет мгновенно.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7. Касательная к графику: от теории к коду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 algn="ctr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Уравнение касательной:</a:t>
            </a:r>
            <a:r>
              <a:rPr sz="2200" b="0" i="0">
                <a:latin typeface="Bookman Old Style"/>
              </a:rPr>
              <a:t>
</a:t>
            </a:r>
            <m:oMath xmlns:m="http://schemas.openxmlformats.org/officeDocument/2006/math" xmlns:mml="http://www.w3.org/1998/Math/MathML">
              <m:r>
                <m:t>y=f(</m:t>
              </m:r>
              <m:sSub>
                <m:e>
                  <m:r>
                    <m:t>x</m:t>
                  </m:r>
                </m:e>
                <m:sub>
                  <m:r>
                    <m:t>0</m:t>
                  </m:r>
                </m:sub>
              </m:sSub>
              <m:r>
                <m:t>)+</m:t>
              </m:r>
              <m:sSup>
                <m:e>
                  <m:r>
                    <m:t>f</m:t>
                  </m:r>
                </m:e>
                <m:sup>
                  <m:r>
                    <m:t>′</m:t>
                  </m:r>
                </m:sup>
              </m:sSup>
              <m:r>
                <m:t>(</m:t>
              </m:r>
              <m:sSub>
                <m:e>
                  <m:r>
                    <m:t>x</m:t>
                  </m:r>
                </m:e>
                <m:sub>
                  <m:r>
                    <m:t>0</m:t>
                  </m:r>
                </m:sub>
              </m:sSub>
              <m:r>
                <m:t>)</m:t>
              </m:r>
              <m:r>
                <m:t>(x−</m:t>
              </m:r>
              <m:sSub>
                <m:e>
                  <m:r>
                    <m:t>x</m:t>
                  </m:r>
                </m:e>
                <m:sub>
                  <m:r>
                    <m:t>0</m:t>
                  </m:r>
                </m:sub>
              </m:sSub>
              <m:r>
                <m:t>)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Реализация в Python: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def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tangent_line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df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x_range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x_range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x_range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y_vals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y_tan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df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label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f(x)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y_tan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--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label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касательная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scatter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color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red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legend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grid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Пример:</a:t>
            </a:r>
            <a:r>
              <a:rPr sz="2200" b="0" i="0">
                <a:latin typeface="Bookman Old Style"/>
              </a:rPr>
              <a:t> </a:t>
            </a:r>
            <m:oMath xmlns:m="http://schemas.openxmlformats.org/officeDocument/2006/math" xmlns:mml="http://www.w3.org/1998/Math/MathML">
              <m:r>
                <m:t>f(x)=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</m:oMath>
            <a:r>
              <a:rPr sz="2200" b="0" i="0">
                <a:latin typeface="Bookman Old Style"/>
              </a:rPr>
              <a:t>, </a:t>
            </a:r>
            <m:oMath xmlns:m="http://schemas.openxmlformats.org/officeDocument/2006/math" xmlns:mml="http://www.w3.org/1998/Math/MathML">
              <m:sSub>
                <m:e>
                  <m:r>
                    <m:t>x</m:t>
                  </m:r>
                </m:e>
                <m:sub>
                  <m:r>
                    <m:t>0</m:t>
                  </m:r>
                </m:sub>
              </m:sSub>
              <m:r>
                <m:t>=1</m:t>
              </m:r>
            </m:oMath>
            <a:r>
              <a:rPr sz="2200" b="0" i="0">
                <a:latin typeface="Bookman Old Style"/>
              </a:rPr>
              <a:t> → касательная </a:t>
            </a:r>
            <m:oMath xmlns:m="http://schemas.openxmlformats.org/officeDocument/2006/math" xmlns:mml="http://www.w3.org/1998/Math/MathML">
              <m:r>
                <m:t>y=2x−1</m:t>
              </m:r>
            </m:oMath>
            <a:r>
              <a:rPr sz="2200" b="0" i="0">
                <a:latin typeface="Bookman Old Style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8. Интегрирование: определённое и неопределённое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SymPy – аналитические интегралы: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indef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# (x-1)*exp(x)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definite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# 1</a:t>
            </a:r>
          </a:p>
          <a:p>
            <a:pPr marL="0" indent="0" algn="ctr">
              <a:buNone/>
              <a:lnSpc>
                <a:spcPct val="115000"/>
              </a:lnSpc>
            </a:pPr>
            <m:oMath xmlns:m="http://schemas.openxmlformats.org/officeDocument/2006/math" xmlns:mml="http://www.w3.org/1998/Math/MathML">
              <m:r>
                <m:t>∫x</m:t>
              </m:r>
              <m:sSup>
                <m:e>
                  <m:r>
                    <m:t>e</m:t>
                  </m:r>
                </m:e>
                <m:sup>
                  <m:r>
                    <m:t>x</m:t>
                  </m:r>
                </m:sup>
              </m:sSup>
              <m:r>
                <m:t>dx=(x−1)</m:t>
              </m:r>
              <m:sSup>
                <m:e>
                  <m:r>
                    <m:t>e</m:t>
                  </m:r>
                </m:e>
                <m:sup>
                  <m:r>
                    <m:t>x</m:t>
                  </m:r>
                </m:sup>
              </m:sSup>
              <m:r>
                <m:t>+C,</m:t>
              </m:r>
              <m:nary>
                <m:naryPr>
                  <m:chr m:val="∫"/>
                  <m:limLoc m:val="subSup"/>
                  <m:grow m:val="1"/>
                  <m:subHide m:val="off"/>
                  <m:supHide m:val="off"/>
                </m:naryPr>
                <m:sub>
                  <m:r>
                    <m:t>0</m:t>
                  </m:r>
                </m:sub>
                <m:sup>
                  <m:r>
                    <m:t>1</m:t>
                  </m:r>
                </m:sup>
                <m:e/>
              </m:nary>
              <m:r>
                <m:t>x</m:t>
              </m:r>
              <m:sSup>
                <m:e>
                  <m:r>
                    <m:t>e</m:t>
                  </m:r>
                </m:e>
                <m:sup>
                  <m:r>
                    <m:t>x</m:t>
                  </m:r>
                </m:sup>
              </m:sSup>
              <m:r>
                <m:t>dx=1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Численное интегрирование (SciPy)</a:t>
            </a:r>
            <a:r>
              <a:rPr sz="2200" b="0" i="0">
                <a:latin typeface="Bookman Old Style"/>
              </a:rPr>
              <a:t> – когда первообразная не берётся: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from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scipy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result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error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quad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lambda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sin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1e-8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# интеграл от sin(x)/x от 0 до 10 ≈ 1.658</a:t>
            </a:r>
          </a:p>
          <a:p>
            <a:pPr marL="0" indent="0" algn="ctr">
              <a:buNone/>
              <a:lnSpc>
                <a:spcPct val="115000"/>
              </a:lnSpc>
            </a:pPr>
            <m:oMath xmlns:m="http://schemas.openxmlformats.org/officeDocument/2006/math" xmlns:mml="http://www.w3.org/1998/Math/MathML">
              <m:nary>
                <m:naryPr>
                  <m:chr m:val="∫"/>
                  <m:limLoc m:val="subSup"/>
                  <m:grow m:val="1"/>
                  <m:subHide m:val="off"/>
                  <m:supHide m:val="off"/>
                </m:naryPr>
                <m:sub>
                  <m:r>
                    <m:t>0</m:t>
                  </m:r>
                </m:sub>
                <m:sup>
                  <m:r>
                    <m:t>10</m:t>
                  </m:r>
                </m:sup>
                <m:e/>
              </m:nary>
              <m:f>
                <m:fPr>
                  <m:type m:val="bar"/>
                </m:fPr>
                <m:num>
                  <m:r>
                    <m:rPr>
                      <m:sty m:val="p"/>
                      <m:sz m:val="44"/>
                    </m:rPr>
                    <m:t>sin</m:t>
                  </m:r>
                  <m:r>
                    <m:t>x</m:t>
                  </m:r>
                </m:num>
                <m:den>
                  <m:r>
                    <m:t>x</m:t>
                  </m:r>
                </m:den>
              </m:f>
              <m:r>
                <m:t>dx≈1.658</m:t>
              </m:r>
            </m:oMath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8. Интегрирование: определённое и неопределённое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Площадь под кривой</a:t>
            </a:r>
            <a:r>
              <a:rPr sz="2200" b="0" i="0">
                <a:latin typeface="Bookman Old Style"/>
              </a:rPr>
              <a:t> – мгновенно, без вывода формулы.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9. Визуализация интеграла как площади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300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b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linewidth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x_fill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0.2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1.5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fill_between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x_fill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x_fill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alpha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0.3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title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$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int_</a:t>
            </a:r>
            <a:r>
              <a:rPr sz="2000">
                <a:solidFill>
                  <a:srgbClr val="000000"/>
                </a:solidFill>
                <a:latin typeface="Courier New"/>
              </a:rPr>
              <a:t>{0.2}</a:t>
            </a:r>
            <a:r>
              <a:rPr sz="2000">
                <a:solidFill>
                  <a:srgbClr val="000000"/>
                </a:solidFill>
                <a:latin typeface="Courier New"/>
              </a:rPr>
              <a:t>^</a:t>
            </a:r>
            <a:r>
              <a:rPr sz="2000">
                <a:solidFill>
                  <a:srgbClr val="000000"/>
                </a:solidFill>
                <a:latin typeface="Courier New"/>
              </a:rPr>
              <a:t>{1.5}</a:t>
            </a:r>
            <a:r>
              <a:rPr sz="2000">
                <a:solidFill>
                  <a:srgbClr val="000000"/>
                </a:solidFill>
                <a:latin typeface="Courier New"/>
              </a:rPr>
              <a:t> e^</a:t>
            </a:r>
            <a:r>
              <a:rPr sz="2000">
                <a:solidFill>
                  <a:srgbClr val="000000"/>
                </a:solidFill>
                <a:latin typeface="Courier New"/>
              </a:rPr>
              <a:t>{</a:t>
            </a:r>
            <a:r>
              <a:rPr sz="2000">
                <a:solidFill>
                  <a:srgbClr val="000000"/>
                </a:solidFill>
                <a:latin typeface="Courier New"/>
              </a:rPr>
              <a:t>-x^2} dx 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approx $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          </a:t>
            </a:r>
            <a:r>
              <a:rPr sz="2000">
                <a:solidFill>
                  <a:srgbClr val="000000"/>
                </a:solidFill>
                <a:latin typeface="Courier New"/>
              </a:rPr>
              <a:t>str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quad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lambda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exp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0.2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1.5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→ Гауссов интеграл </a:t>
            </a:r>
            <m:oMath xmlns:m="http://schemas.openxmlformats.org/officeDocument/2006/math" xmlns:mml="http://www.w3.org/1998/Math/MathML">
              <m:r>
                <m:t>∫</m:t>
              </m:r>
              <m:sSup>
                <m:e>
                  <m:r>
                    <m:t>e</m:t>
                  </m:r>
                </m:e>
                <m:sup>
                  <m:r>
                    <m:t>−</m:t>
                  </m:r>
                  <m:sSup>
                    <m:e>
                      <m:r>
                        <m:t>x</m:t>
                      </m:r>
                    </m:e>
                    <m:sup>
                      <m:r>
                        <m:t>2</m:t>
                      </m:r>
                    </m:sup>
                  </m:sSup>
                </m:sup>
              </m:sSup>
              <m:r>
                <m:t>dx</m:t>
              </m:r>
            </m:oMath>
            <a:r>
              <a:rPr sz="2200" b="0" i="0">
                <a:latin typeface="Bookman Old Style"/>
              </a:rPr>
              <a:t> (функция ошибок) визуально понятен.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10. Ряды Тейлора: приближение функций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Разложение в SymPy: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Symbol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series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series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 </a:t>
            </a:r>
            <a:r>
              <a:rPr sz="2000">
                <a:solidFill>
                  <a:srgbClr val="000000"/>
                </a:solidFill>
                <a:latin typeface="Courier New"/>
              </a:rPr>
              <a:t># 1 - x**2/2 + x**4/24 + O(x**5)</a:t>
            </a:r>
          </a:p>
          <a:p>
            <a:pPr marL="0" indent="0" algn="ctr">
              <a:buNone/>
              <a:lnSpc>
                <a:spcPct val="115000"/>
              </a:lnSpc>
            </a:pPr>
            <m:oMath xmlns:m="http://schemas.openxmlformats.org/officeDocument/2006/math" xmlns:mml="http://www.w3.org/1998/Math/MathML">
              <m:r>
                <m:rPr>
                  <m:sty m:val="p"/>
                  <m:sz m:val="44"/>
                </m:rPr>
                <m:t>cos</m:t>
              </m:r>
              <m:r>
                <m:t>x=1−</m:t>
              </m:r>
              <m:f>
                <m:fPr>
                  <m:type m:val="bar"/>
                </m:fPr>
                <m:num>
                  <m:sSup>
                    <m:e>
                      <m:r>
                        <m:t>x</m:t>
                      </m:r>
                    </m:e>
                    <m:sup>
                      <m:r>
                        <m:t>2</m:t>
                      </m:r>
                    </m:sup>
                  </m:sSup>
                </m:num>
                <m:den>
                  <m:r>
                    <m:t>2</m:t>
                  </m:r>
                </m:den>
              </m:f>
              <m:r>
                <m:t>+</m:t>
              </m:r>
              <m:f>
                <m:fPr>
                  <m:type m:val="bar"/>
                </m:fPr>
                <m:num>
                  <m:sSup>
                    <m:e>
                      <m:r>
                        <m:t>x</m:t>
                      </m:r>
                    </m:e>
                    <m:sup>
                      <m:r>
                        <m:t>4</m:t>
                      </m:r>
                    </m:sup>
                  </m:sSup>
                </m:num>
                <m:den>
                  <m:r>
                    <m:t>24</m:t>
                  </m:r>
                </m:den>
              </m:f>
              <m:r>
                <m:t>+O(</m:t>
              </m:r>
              <m:sSup>
                <m:e>
                  <m:r>
                    <m:t>x</m:t>
                  </m:r>
                </m:e>
                <m:sup>
                  <m:r>
                    <m:t>5</m:t>
                  </m:r>
                </m:sup>
              </m:sSup>
              <m:r>
                <m:t>)</m:t>
              </m:r>
            </m:oMath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Сравнение с исходной функцией (численно):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200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approx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4</a:t>
            </a:r>
            <a:r>
              <a:rPr sz="2000">
                <a:solidFill>
                  <a:srgbClr val="000000"/>
                </a:solidFill>
                <a:latin typeface="Courier New"/>
              </a:rPr>
              <a:t>/</a:t>
            </a:r>
            <a:r>
              <a:rPr sz="2000">
                <a:solidFill>
                  <a:srgbClr val="000000"/>
                </a:solidFill>
                <a:latin typeface="Courier New"/>
              </a:rPr>
              <a:t>24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cos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label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$</a:t>
            </a:r>
            <a:r>
              <a:rPr sz="2000">
                <a:solidFill>
                  <a:srgbClr val="000000"/>
                </a:solidFill>
                <a:latin typeface="Courier New"/>
              </a:rPr>
              <a:t>\</a:t>
            </a:r>
            <a:r>
              <a:rPr sz="2000">
                <a:solidFill>
                  <a:srgbClr val="000000"/>
                </a:solidFill>
                <a:latin typeface="Courier New"/>
              </a:rPr>
              <a:t>cos x$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x_vals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approx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--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label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Тейлор (до $x^4$)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legend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10. Ряды Тейлора: приближение функций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→ Видно, что для малых </a:t>
            </a:r>
            <m:oMath xmlns:m="http://schemas.openxmlformats.org/officeDocument/2006/math" xmlns:mml="http://www.w3.org/1998/Math/MathML">
              <m:r>
                <m:t>x</m:t>
              </m:r>
            </m:oMath>
            <a:r>
              <a:rPr sz="2200" b="0" i="0">
                <a:latin typeface="Bookman Old Style"/>
              </a:rPr>
              <a:t> приближение отлично, дальше расходится.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11. Решение обыкновенных дифференциальных уравнений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 algn="ctr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Задача Коши:</a:t>
            </a:r>
            <a:r>
              <a:rPr sz="2200" b="0" i="0">
                <a:latin typeface="Bookman Old Style"/>
              </a:rPr>
              <a:t>
</a:t>
            </a:r>
            <m:oMath xmlns:m="http://schemas.openxmlformats.org/officeDocument/2006/math" xmlns:mml="http://www.w3.org/1998/Math/MathML">
              <m:sSup>
                <m:e>
                  <m:r>
                    <m:t>y</m:t>
                  </m:r>
                </m:e>
                <m:sup>
                  <m:r>
                    <m:t>′</m:t>
                  </m:r>
                </m:sup>
              </m:sSup>
              <m:r>
                <m:t>=−2y+t,</m:t>
              </m:r>
              <m:r>
                <m:t>y(0)=1</m:t>
              </m:r>
            </m:oMath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Аналитическое решение: </a:t>
            </a:r>
            <m:oMath xmlns:m="http://schemas.openxmlformats.org/officeDocument/2006/math" xmlns:mml="http://www.w3.org/1998/Math/MathML">
              <m:r>
                <m:t>y(t)=</m:t>
              </m:r>
              <m:f>
                <m:fPr>
                  <m:type m:val="bar"/>
                </m:fPr>
                <m:num>
                  <m:r>
                    <m:t>2t−1</m:t>
                  </m:r>
                </m:num>
                <m:den>
                  <m:r>
                    <m:t>4</m:t>
                  </m:r>
                </m:den>
              </m:f>
              <m:r>
                <m:t>+</m:t>
              </m:r>
              <m:f>
                <m:fPr>
                  <m:type m:val="bar"/>
                </m:fPr>
                <m:num>
                  <m:r>
                    <m:t>5</m:t>
                  </m:r>
                </m:num>
                <m:den>
                  <m:r>
                    <m:t>4</m:t>
                  </m:r>
                </m:den>
              </m:f>
              <m:sSup>
                <m:e>
                  <m:r>
                    <m:t>e</m:t>
                  </m:r>
                </m:e>
                <m:sup>
                  <m:r>
                    <m:t>−2t</m:t>
                  </m:r>
                </m:sup>
              </m:sSup>
            </m:oMath>
            <a:r>
              <a:rPr sz="2200" b="0" i="0">
                <a:latin typeface="Bookman Old Style"/>
              </a:rPr>
              <a:t>, но численно проще.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from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scipy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solve_ivp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FF"/>
                </a:solidFill>
                <a:latin typeface="Courier New"/>
              </a:rPr>
              <a:t>def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ode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return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sol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solve_ivp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ode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t_eval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linspace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100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plot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sol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sol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title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"</a:t>
            </a:r>
            <a:r>
              <a:rPr sz="2000">
                <a:solidFill>
                  <a:srgbClr val="000000"/>
                </a:solidFill>
                <a:latin typeface="Courier New"/>
              </a:rPr>
              <a:t>Решение ОДУ $y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 = -2y + t$</a:t>
            </a:r>
            <a:r>
              <a:rPr sz="2000">
                <a:solidFill>
                  <a:srgbClr val="000000"/>
                </a:solidFill>
                <a:latin typeface="Courier New"/>
              </a:rPr>
              <a:t>"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Преимущество:</a:t>
            </a:r>
            <a:r>
              <a:rPr sz="2200" b="0" i="0">
                <a:latin typeface="Bookman Old Style"/>
              </a:rPr>
              <a:t> не нужно выводить формулу, достаточно задать правую часть.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12. Поле направлений – геометрия ОДУ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Построение с помощью </a:t>
            </a:r>
            <a:r>
              <a:rPr sz="2200" b="1" i="0">
                <a:latin typeface="Bookman Old Style"/>
              </a:rPr>
              <a:t>matplotlib.quiver</a:t>
            </a:r>
            <a:r>
              <a:rPr sz="2200" b="1" i="0">
                <a:latin typeface="Bookman Old Style"/>
              </a:rPr>
              <a:t>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mgrid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20</a:t>
            </a:r>
            <a:r>
              <a:rPr sz="2000">
                <a:solidFill>
                  <a:srgbClr val="000000"/>
                </a:solidFill>
                <a:latin typeface="Courier New"/>
              </a:rPr>
              <a:t>j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20</a:t>
            </a:r>
            <a:r>
              <a:rPr sz="2000">
                <a:solidFill>
                  <a:srgbClr val="000000"/>
                </a:solidFill>
                <a:latin typeface="Courier New"/>
              </a:rPr>
              <a:t>j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dy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dt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ones_like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dy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quiver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dt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dy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alpha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0.6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xlabel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t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;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ylabel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title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r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Поле направлений для $y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 = -2y + t$</a:t>
            </a:r>
            <a:r>
              <a:rPr sz="2000">
                <a:solidFill>
                  <a:srgbClr val="000000"/>
                </a:solidFill>
                <a:latin typeface="Courier New"/>
              </a:rPr>
              <a:t>'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→ Помогает предсказать поведение решений без точной формулы.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13. Многомерный анализ: градиент и экстремумы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Градиент</a:t>
            </a:r>
            <a:r>
              <a:rPr sz="2200" b="0" i="0">
                <a:latin typeface="Bookman Old Style"/>
              </a:rPr>
              <a:t> </a:t>
            </a:r>
            <m:oMath xmlns:m="http://schemas.openxmlformats.org/officeDocument/2006/math" xmlns:mml="http://www.w3.org/1998/Math/MathML">
              <m:r>
                <m:t>∇f=</m:t>
              </m:r>
              <m:r>
                <m:t>(</m:t>
              </m:r>
              <m:f>
                <m:fPr>
                  <m:type m:val="bar"/>
                </m:fPr>
                <m:num>
                  <m:r>
                    <m:t>∂f</m:t>
                  </m:r>
                </m:num>
                <m:den>
                  <m:r>
                    <m:t>∂x</m:t>
                  </m:r>
                </m:den>
              </m:f>
              <m:r>
                <m:t>,</m:t>
              </m:r>
              <m:f>
                <m:fPr>
                  <m:type m:val="bar"/>
                </m:fPr>
                <m:num>
                  <m:r>
                    <m:t>∂f</m:t>
                  </m:r>
                </m:num>
                <m:den>
                  <m:r>
                    <m:t>∂y</m:t>
                  </m:r>
                </m:den>
              </m:f>
              <m:r>
                <m:t>)</m:t>
              </m:r>
            </m:oMath>
            <a:r>
              <a:rPr sz="2200" b="0" i="0">
                <a:latin typeface="Bookman Old Style"/>
              </a:rPr>
              <a:t> – направление наискорейшего роста.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Поиск минимума </a:t>
            </a:r>
            <m:oMath xmlns:m="http://schemas.openxmlformats.org/officeDocument/2006/math" xmlns:mml="http://www.w3.org/1998/Math/MathML">
              <m:r>
                <m:t>f(x,y)=</m:t>
              </m:r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t>+</m:t>
              </m:r>
              <m:sSup>
                <m:e>
                  <m:r>
                    <m:t>y</m:t>
                  </m:r>
                </m:e>
                <m:sup>
                  <m:r>
                    <m:t>2</m:t>
                  </m:r>
                </m:sup>
              </m:sSup>
            </m:oMath>
            <a:r>
              <a:rPr sz="2200" b="0" i="0">
                <a:latin typeface="Bookman Old Style"/>
              </a:rPr>
              <a:t> с помощью SciPy: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from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scipy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optimize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import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minimize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FF"/>
                </a:solidFill>
                <a:latin typeface="Courier New"/>
              </a:rPr>
              <a:t>lambda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v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v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v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res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minimize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f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10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5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print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res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  </a:t>
            </a:r>
            <a:r>
              <a:rPr sz="2000">
                <a:solidFill>
                  <a:srgbClr val="000000"/>
                </a:solidFill>
                <a:latin typeface="Courier New"/>
              </a:rPr>
              <a:t># → [0., 0.]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Визуализация уровней:</a:t>
            </a:r>
            <a:r>
              <a:rPr sz="2200" b="0" i="0">
                <a:latin typeface="Bookman Old Style"/>
              </a:rPr>
              <a:t> контурный график + градиентные стрелки.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np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mgrid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50</a:t>
            </a:r>
            <a:r>
              <a:rPr sz="2000">
                <a:solidFill>
                  <a:srgbClr val="000000"/>
                </a:solidFill>
                <a:latin typeface="Courier New"/>
              </a:rPr>
              <a:t>j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-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50</a:t>
            </a:r>
            <a:r>
              <a:rPr sz="2000">
                <a:solidFill>
                  <a:srgbClr val="000000"/>
                </a:solidFill>
                <a:latin typeface="Courier New"/>
              </a:rPr>
              <a:t>j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Z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+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contour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Y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Z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levels</a:t>
            </a:r>
            <a:r>
              <a:rPr sz="2000">
                <a:solidFill>
                  <a:srgbClr val="000000"/>
                </a:solidFill>
                <a:latin typeface="Courier New"/>
              </a:rPr>
              <a:t>=</a:t>
            </a:r>
            <a:r>
              <a:rPr sz="2000">
                <a:solidFill>
                  <a:srgbClr val="000000"/>
                </a:solidFill>
                <a:latin typeface="Courier New"/>
              </a:rPr>
              <a:t>15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plt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colorbar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14. Заключение: библиотеки и ресурсы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Что мы научились делать за один урок?</a:t>
            </a:r>
            <a:r>
              <a:rPr sz="2200" b="0" i="0">
                <a:latin typeface="Bookman Old Style"/>
              </a:rPr>
              <a:t>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✦ Символьные пределы, производные, интегралы (SymPy)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✦ Численное интегрирование и ОДУ (SciPy)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✦ Графики, касательные, поля направлений (Matplotlib)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✦ Разложения в ряды и оптимизацию  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Рекомендации для дальнейшего изучения:</a:t>
            </a:r>
            <a:r>
              <a:rPr sz="2200" b="0" i="0">
                <a:latin typeface="Bookman Old Style"/>
              </a:rPr>
              <a:t>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Книга «Python for Scientists» (J. Kinder, P. Nelson)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Документация SymPy, SciPy, Matplotlib 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sz="2200" b="0" i="0">
                <a:latin typeface="Bookman Old Style"/>
              </a:rPr>
              <a:t>Курсы на Coursera / Stepik по научному Python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432000"/>
          </a:xfrm>
          <a:solidFill>
            <a:srgbClr val="EBF0F8"/>
          </a:solidFill>
        </p:spPr>
        <p:txBody>
          <a:bodyPr wrap="square" anchor="ctr" lIns="0" rIns="0" tIns="46800" bIns="46800">
            <a:spAutoFit/>
          </a:bodyPr>
          <a:lstStyle/>
          <a:p>
            <a:r>
              <a:rPr sz="2800" b="1" i="0">
                <a:solidFill>
                  <a:srgbClr val="264673"/>
                </a:solidFill>
                <a:latin typeface="Bookman Old Style"/>
              </a:rPr>
              <a:t>Слайд 15. Вопросы и ответы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Пример вопроса из зала:</a:t>
            </a:r>
            <a:r>
              <a:rPr sz="2200" b="0" i="0">
                <a:latin typeface="Bookman Old Style"/>
              </a:rPr>
              <a:t>
</a:t>
            </a:r>
            <a:r>
              <a:rPr sz="2200" b="0" i="1">
                <a:latin typeface="Bookman Old Style"/>
              </a:rPr>
              <a:t>«Можно ли использовать Python для решения задач на экзамене по матану?»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Ответ: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Для аналитических выкладок – да (как калькулятор). Но важно понимать теорию, чтобы интерпретировать результаты. На экзамене можно проверить себя, написав короткий скрипт.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Живой пример: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Проверим, что </a:t>
            </a:r>
            <m:oMath xmlns:m="http://schemas.openxmlformats.org/officeDocument/2006/math" xmlns:mml="http://www.w3.org/1998/Math/MathML">
              <m:nary>
                <m:naryPr>
                  <m:chr m:val="∫"/>
                  <m:limLoc m:val="subSup"/>
                  <m:grow m:val="1"/>
                  <m:subHide m:val="off"/>
                  <m:supHide m:val="off"/>
                </m:naryPr>
                <m:sub>
                  <m:r>
                    <m:t>0</m:t>
                  </m:r>
                </m:sub>
                <m:sup>
                  <m:r>
                    <m:t>1</m:t>
                  </m:r>
                </m:sup>
                <m:e/>
              </m:nary>
              <m:sSup>
                <m:e>
                  <m:r>
                    <m:t>x</m:t>
                  </m:r>
                </m:e>
                <m:sup>
                  <m:r>
                    <m:t>2</m:t>
                  </m:r>
                </m:sup>
              </m:sSup>
              <m:r>
                <m:t>dx=</m:t>
              </m:r>
              <m:f>
                <m:fPr>
                  <m:type m:val="bar"/>
                </m:fPr>
                <m:num>
                  <m:r>
                    <m:t>1</m:t>
                  </m:r>
                </m:num>
                <m:den>
                  <m:r>
                    <m:t>3</m:t>
                  </m:r>
                </m:den>
              </m:f>
            </m:oMath>
            <a:r>
              <a:rPr sz="2200" b="0" i="0">
                <a:latin typeface="Bookman Old Style"/>
              </a:rPr>
              <a:t>:</a:t>
            </a:r>
          </a:p>
          <a:p>
            <a:pPr algn="l" marL="0" indent="0">
              <a:buNone/>
              <a:lnSpc>
                <a:spcPct val="115000"/>
              </a:lnSpc>
            </a:pPr>
            <a:r>
              <a:rPr sz="2000">
                <a:solidFill>
                  <a:srgbClr val="000000"/>
                </a:solidFill>
                <a:latin typeface="Courier New"/>
              </a:rPr>
              <a:t>integrate</a:t>
            </a:r>
            <a:r>
              <a:rPr sz="2000">
                <a:solidFill>
                  <a:srgbClr val="000000"/>
                </a:solidFill>
                <a:latin typeface="Courier New"/>
              </a:rPr>
              <a:t>.</a:t>
            </a:r>
            <a:r>
              <a:rPr sz="2000">
                <a:solidFill>
                  <a:srgbClr val="000000"/>
                </a:solidFill>
                <a:latin typeface="Courier New"/>
              </a:rPr>
              <a:t>quad</a:t>
            </a:r>
            <a:r>
              <a:rPr sz="2000">
                <a:solidFill>
                  <a:srgbClr val="000000"/>
                </a:solidFill>
                <a:latin typeface="Courier New"/>
              </a:rPr>
              <a:t>(</a:t>
            </a:r>
            <a:r>
              <a:rPr sz="2000">
                <a:solidFill>
                  <a:srgbClr val="0000FF"/>
                </a:solidFill>
                <a:latin typeface="Courier New"/>
              </a:rPr>
              <a:t>lambda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: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x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*</a:t>
            </a:r>
            <a:r>
              <a:rPr sz="2000">
                <a:solidFill>
                  <a:srgbClr val="000000"/>
                </a:solidFill>
                <a:latin typeface="Courier New"/>
              </a:rPr>
              <a:t>2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,</a:t>
            </a:r>
            <a:r>
              <a:rPr sz="2000">
                <a:solidFill>
                  <a:srgbClr val="000000"/>
                </a:solidFill>
                <a:latin typeface="Courier New"/>
              </a:rPr>
              <a:t> </a:t>
            </a:r>
            <a:r>
              <a:rPr sz="2000">
                <a:solidFill>
                  <a:srgbClr val="000000"/>
                </a:solidFill>
                <a:latin typeface="Courier New"/>
              </a:rPr>
              <a:t>1</a:t>
            </a:r>
            <a:r>
              <a:rPr sz="2000">
                <a:solidFill>
                  <a:srgbClr val="000000"/>
                </a:solidFill>
                <a:latin typeface="Courier New"/>
              </a:rPr>
              <a:t>)</a:t>
            </a:r>
            <a:r>
              <a:rPr sz="2000">
                <a:solidFill>
                  <a:srgbClr val="000000"/>
                </a:solidFill>
                <a:latin typeface="Courier New"/>
              </a:rPr>
              <a:t>[</a:t>
            </a:r>
            <a:r>
              <a:rPr sz="2000">
                <a:solidFill>
                  <a:srgbClr val="000000"/>
                </a:solidFill>
                <a:latin typeface="Courier New"/>
              </a:rPr>
              <a:t>0</a:t>
            </a:r>
            <a:r>
              <a:rPr sz="2000">
                <a:solidFill>
                  <a:srgbClr val="000000"/>
                </a:solidFill>
                <a:latin typeface="Courier New"/>
              </a:rPr>
              <a:t>]</a:t>
            </a:r>
            <a:r>
              <a:rPr sz="2000">
                <a:solidFill>
                  <a:srgbClr val="000000"/>
                </a:solidFill>
                <a:latin typeface="Courier New"/>
              </a:rPr>
              <a:t>  </a:t>
            </a:r>
            <a:r>
              <a:rPr sz="2000">
                <a:solidFill>
                  <a:srgbClr val="000000"/>
                </a:solidFill>
                <a:latin typeface="Courier New"/>
              </a:rPr>
              <a:t># → 0.3333333333</a:t>
            </a:r>
          </a:p>
          <a:p>
            <a:pPr marL="0" indent="0">
              <a:buNone/>
              <a:lnSpc>
                <a:spcPct val="115000"/>
              </a:lnSpc>
            </a:pPr>
            <a:r>
              <a:rPr sz="2200" b="1" i="0">
                <a:latin typeface="Bookman Old Style"/>
              </a:rPr>
              <a:t>Спасибо за внимание!</a:t>
            </a:r>
            <a:r>
              <a:rPr sz="2200" b="0" i="0">
                <a:latin typeface="Bookman Old Style"/>
              </a:rPr>
              <a:t>
</a:t>
            </a:r>
            <a:r>
              <a:rPr sz="2200" b="0" i="0">
                <a:latin typeface="Bookman Old Style"/>
              </a:rPr>
              <a:t>Слайды и код доступны по ссылке (QR-код).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32000"/>
            <a:ext cx="12192000" cy="5994000"/>
          </a:xfrm>
        </p:spPr>
        <p:txBody>
          <a:bodyPr wrap="square" anchor="t" lIns="360000" rIns="360000" tIns="46800" bIns="46800">
            <a:noAutofit/>
          </a:bodyPr>
          <a:lstStyle/>
          <a:p>
            <a:pPr marL="0" indent="0">
              <a:buNone/>
              <a:lnSpc>
                <a:spcPct val="115000"/>
              </a:lnSpc>
            </a:pPr>
            <a:r>
              <a:rPr sz="2200" b="0" i="0">
                <a:latin typeface="Bookman Old Style"/>
              </a:rPr>
              <a:t>Теперь все формулы отображаются в красивом TeX-виде. Для презентаций в Jupyter Notebook достаточно поместить текст в ячейки с типом Markdown, а код — в ячейки Code. Для PowerPoint можно использовать надстройки типа IguanaTeX или просто скопировать отрендеренные формулы как картинки.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26000"/>
            <a:ext cx="11112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200">
                <a:latin typeface="Bookman Old Style"/>
              </a:defRPr>
            </a:pPr>
            <a:r>
              <a:t>Клюкин Д.А.</a:t>
            </a:r>
          </a:p>
        </p:txBody>
      </p:sp>
      <p:sp>
        <p:nvSpPr>
          <p:cNvPr id="5" name="SlideNumberBox"/>
          <p:cNvSpPr txBox="1"/>
          <p:nvPr/>
        </p:nvSpPr>
        <p:spPr>
          <a:xfrm>
            <a:off x="11112000" y="6426000"/>
            <a:ext cx="1080000" cy="432000"/>
          </a:xfrm>
          <a:prstGeom prst="rect">
            <a:avLst/>
          </a:prstGeom>
          <a:noFill/>
          <a:ln w="12700">
            <a:solidFill>
              <a:srgbClr val="264673"/>
            </a:solidFill>
          </a:ln>
        </p:spPr>
        <p:txBody>
          <a:bodyPr wrap="none">
            <a:spAutoFit/>
          </a:bodyPr>
          <a:lstStyle/>
          <a:p>
            <a:pPr algn="ctr">
              <a:defRPr sz="1400" b="1">
                <a:latin typeface="Bookman Old Style"/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