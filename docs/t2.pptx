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672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12192000" cy="2286000"/>
          </a:xfrm>
        </p:spPr>
        <p:txBody>
          <a:bodyPr wrap="square" lIns="360000" tIns="46800" rIns="360000" bIns="46800" anchor="t">
            <a:noAutofit/>
          </a:bodyPr>
          <a:lstStyle/>
          <a:p>
            <a:pPr marL="0" indent="0" algn="ctr">
              <a:buNone/>
            </a:pPr>
            <a:r>
              <a:rPr sz="2200" b="0" i="0">
                <a:latin typeface="Bookman Old Style"/>
              </a:rPr>
              <a:t>marp: true
theme: default
paginate: true
backgroundColor: #fff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000"/>
          </a:xfrm>
          <a:solidFill>
            <a:srgbClr val="EBF0F8"/>
          </a:solidFill>
        </p:spPr>
        <p:txBody>
          <a:bodyPr wrap="square" lIns="0" tIns="46800" rIns="0" bIns="46800" anchor="ctr">
            <a:spAutoFit/>
          </a:bodyPr>
          <a:lstStyle/>
          <a:p>
            <a:r>
              <a:rPr sz="2800" b="1" i="0">
                <a:solidFill>
                  <a:srgbClr val="264673"/>
                </a:solidFill>
                <a:latin typeface="Bookman Old Style"/>
              </a:rPr>
              <a:t>Градиентный спуск в машинном обучении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32000"/>
            <a:ext cx="12192000" cy="5994000"/>
          </a:xfrm>
        </p:spPr>
        <p:txBody>
          <a:bodyPr wrap="square" lIns="360000" tIns="46800" rIns="360000" bIns="46800" anchor="t">
            <a:noAutofit/>
          </a:bodyPr>
          <a:lstStyle/>
          <a:p>
            <a:pPr marL="0" indent="0">
              <a:buNone/>
            </a:pPr>
            <a:r>
              <a:rPr sz="2200" b="1" i="0">
                <a:latin typeface="Bookman Old Style"/>
              </a:rPr>
              <a:t>Автор:</a:t>
            </a:r>
            <a:r>
              <a:rPr sz="2200" b="0" i="0">
                <a:latin typeface="Bookman Old Style"/>
              </a:rPr>
              <a:t> Искусственный Интеллект
</a:t>
            </a:r>
            <a:r>
              <a:rPr sz="2200" b="1" i="0">
                <a:latin typeface="Bookman Old Style"/>
              </a:rPr>
              <a:t>Дата:</a:t>
            </a:r>
            <a:r>
              <a:rPr sz="2200" b="0" i="0">
                <a:latin typeface="Bookman Old Style"/>
              </a:rPr>
              <a:t>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000"/>
          </a:xfrm>
          <a:solidFill>
            <a:srgbClr val="EBF0F8"/>
          </a:solidFill>
        </p:spPr>
        <p:txBody>
          <a:bodyPr wrap="square" lIns="0" tIns="46800" rIns="0" bIns="46800" anchor="ctr">
            <a:spAutoFit/>
          </a:bodyPr>
          <a:lstStyle/>
          <a:p>
            <a:r>
              <a:rPr sz="2800" b="1" i="0">
                <a:solidFill>
                  <a:srgbClr val="264673"/>
                </a:solidFill>
                <a:latin typeface="Bookman Old Style"/>
              </a:rPr>
              <a:t>1. Постановка задачи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0" y="432000"/>
                <a:ext cx="12192000" cy="5994000"/>
              </a:xfrm>
            </p:spPr>
            <p:txBody>
              <a:bodyPr wrap="square" lIns="360000" tIns="46800" rIns="360000" bIns="46800" anchor="t">
                <a:noAutofit/>
              </a:bodyPr>
              <a:lstStyle/>
              <a:p>
                <a:pPr marL="0" indent="0">
                  <a:buNone/>
                </a:pPr>
                <a:r>
                  <a:rPr lang="ru-RU" sz="2200" b="0" i="0" dirty="0" smtClean="0">
                    <a:latin typeface="Bookman Old Style"/>
                  </a:rPr>
                  <a:t>Мы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ищем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минимум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функции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потерь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14:m>
                  <m:oMath xmlns:m="http://schemas.openxmlformats.org/officeDocument/2006/math">
                    <m:r>
                      <a:rPr lang="ru-RU" sz="2200">
                        <a:latin typeface="Cambria Math"/>
                      </a:rPr>
                      <m:t>𝐽</m:t>
                    </m:r>
                    <m:r>
                      <a:rPr lang="ru-RU" sz="2200">
                        <a:latin typeface="Cambria Math"/>
                      </a:rPr>
                      <m:t>(</m:t>
                    </m:r>
                    <m:r>
                      <a:rPr lang="ru-RU" sz="2200">
                        <a:latin typeface="Cambria Math"/>
                      </a:rPr>
                      <m:t>𝜃</m:t>
                    </m:r>
                    <m:r>
                      <a:rPr lang="ru-RU" sz="2200">
                        <a:latin typeface="Cambria Math"/>
                      </a:rPr>
                      <m:t>)</m:t>
                    </m:r>
                  </m:oMath>
                </a14:m>
                <a:r>
                  <a:rPr lang="ru-RU" sz="2200" b="0" i="0" dirty="0">
                    <a:latin typeface="Bookman Old Style"/>
                  </a:rPr>
                  <a:t>, </a:t>
                </a:r>
                <a:r>
                  <a:rPr lang="ru-RU" sz="2200" b="0" i="0" dirty="0" err="1">
                    <a:latin typeface="Bookman Old Style"/>
                  </a:rPr>
                  <a:t>которая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определяет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ошибку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предсказания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модели</a:t>
                </a:r>
                <a:r>
                  <a:rPr lang="ru-RU" sz="2200" b="0" i="0" dirty="0">
                    <a:latin typeface="Bookman Old Style"/>
                  </a:rPr>
                  <a:t>. </a:t>
                </a:r>
                <a:r>
                  <a:rPr lang="ru-RU" sz="2200" b="0" i="0" dirty="0" err="1">
                    <a:latin typeface="Bookman Old Style"/>
                  </a:rPr>
                  <a:t>Наша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цель</a:t>
                </a:r>
                <a:r>
                  <a:rPr lang="ru-RU" sz="2200" b="0" i="0" dirty="0">
                    <a:latin typeface="Bookman Old Style"/>
                  </a:rPr>
                  <a:t> — </a:t>
                </a:r>
                <a:r>
                  <a:rPr lang="ru-RU" sz="2200" b="0" i="0" dirty="0" err="1">
                    <a:latin typeface="Bookman Old Style"/>
                  </a:rPr>
                  <a:t>найти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такие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параметры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14:m>
                  <m:oMath xmlns:m="http://schemas.openxmlformats.org/officeDocument/2006/math">
                    <m:r>
                      <a:rPr lang="ru-RU" sz="2200">
                        <a:latin typeface="Cambria Math"/>
                      </a:rPr>
                      <m:t>𝜃</m:t>
                    </m:r>
                  </m:oMath>
                </a14:m>
                <a:r>
                  <a:rPr lang="ru-RU" sz="2200" b="0" i="0" dirty="0">
                    <a:latin typeface="Bookman Old Style"/>
                  </a:rPr>
                  <a:t>, </a:t>
                </a:r>
                <a:r>
                  <a:rPr lang="ru-RU" sz="2200" b="0" i="0" dirty="0" err="1">
                    <a:latin typeface="Bookman Old Style"/>
                  </a:rPr>
                  <a:t>при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которых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значение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функции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минимально</a:t>
                </a:r>
                <a:r>
                  <a:rPr lang="ru-RU" sz="2200" b="0" i="0" dirty="0">
                    <a:latin typeface="Bookman Old Style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220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200">
                              <a:latin typeface="Cambria Math"/>
                            </a:rPr>
                            <m:t>𝜃</m:t>
                          </m:r>
                        </m:e>
                        <m:sup>
                          <m:r>
                            <a:rPr lang="ar-AE" sz="2200">
                              <a:latin typeface="Cambria Math"/>
                            </a:rPr>
                            <m:t>∗</m:t>
                          </m:r>
                        </m:sup>
                      </m:sSup>
                      <m:r>
                        <a:rPr lang="ar-AE" sz="2200">
                          <a:latin typeface="Cambria Math"/>
                        </a:rPr>
                        <m:t>=</m:t>
                      </m:r>
                      <m:r>
                        <a:rPr lang="ar-AE" sz="22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2200">
                          <a:latin typeface="Cambria Math"/>
                        </a:rPr>
                        <m:t>\</m:t>
                      </m:r>
                      <m:r>
                        <m:rPr>
                          <m:sty m:val="p"/>
                        </m:rPr>
                        <a:rPr lang="en-US" sz="2200">
                          <a:latin typeface="Cambria Math"/>
                        </a:rPr>
                        <m:t>arg</m:t>
                      </m:r>
                      <m:sSub>
                        <m:sSubPr>
                          <m:ctrlPr>
                            <a:rPr lang="ar-A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200">
                              <a:latin typeface="Cambria Math"/>
                            </a:rPr>
                            <m:t>𝑚𝑖𝑛</m:t>
                          </m:r>
                        </m:e>
                        <m:sub>
                          <m:r>
                            <a:rPr lang="ar-AE" sz="2200">
                              <a:latin typeface="Cambria Math"/>
                            </a:rPr>
                            <m:t>𝜃</m:t>
                          </m:r>
                        </m:sub>
                      </m:sSub>
                      <m:r>
                        <a:rPr lang="ar-AE" sz="2200">
                          <a:latin typeface="Cambria Math"/>
                        </a:rPr>
                        <m:t>𝐽</m:t>
                      </m:r>
                      <m:r>
                        <a:rPr lang="ar-AE" sz="2200">
                          <a:latin typeface="Cambria Math"/>
                        </a:rPr>
                        <m:t>(</m:t>
                      </m:r>
                      <m:r>
                        <a:rPr lang="ar-AE" sz="2200">
                          <a:latin typeface="Cambria Math"/>
                        </a:rPr>
                        <m:t>𝜃</m:t>
                      </m:r>
                      <m:r>
                        <a:rPr lang="ar-AE" sz="220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ar-AE" sz="2200" b="0" i="0" dirty="0">
                  <a:latin typeface="Bookman Old Style"/>
                </a:endParaRPr>
              </a:p>
              <a:p>
                <a:pPr marL="0" indent="0">
                  <a:buNone/>
                </a:pPr>
                <a:r>
                  <a:rPr lang="ru-RU" sz="2200" b="0" i="0" dirty="0" err="1">
                    <a:latin typeface="Bookman Old Style"/>
                  </a:rPr>
                  <a:t>Для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линейной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регрессии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функция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потерь</a:t>
                </a:r>
                <a:r>
                  <a:rPr lang="ru-RU" sz="2200" b="0" i="0" dirty="0">
                    <a:latin typeface="Bookman Old Style"/>
                  </a:rPr>
                  <a:t> (</a:t>
                </a:r>
                <a:r>
                  <a:rPr lang="en-US" sz="2200" b="0" i="0" dirty="0">
                    <a:latin typeface="Bookman Old Style"/>
                  </a:rPr>
                  <a:t>MSE) </a:t>
                </a:r>
                <a:r>
                  <a:rPr lang="ru-RU" sz="2200" b="0" i="0" dirty="0" err="1">
                    <a:latin typeface="Bookman Old Style"/>
                  </a:rPr>
                  <a:t>выглядит</a:t>
                </a:r>
                <a:r>
                  <a:rPr lang="ru-RU" sz="2200" b="0" i="0" dirty="0">
                    <a:latin typeface="Bookman Old Style"/>
                  </a:rPr>
                  <a:t> </a:t>
                </a:r>
                <a:r>
                  <a:rPr lang="ru-RU" sz="2200" b="0" i="0" dirty="0" err="1">
                    <a:latin typeface="Bookman Old Style"/>
                  </a:rPr>
                  <a:t>так</a:t>
                </a:r>
                <a:r>
                  <a:rPr lang="ru-RU" sz="2200" b="0" i="0" dirty="0">
                    <a:latin typeface="Bookman Old Style"/>
                  </a:rPr>
                  <a:t>:
</a:t>
                </a:r>
                <a14:m>
                  <m:oMath xmlns:m="http://schemas.openxmlformats.org/officeDocument/2006/math">
                    <m:r>
                      <a:rPr lang="ru-RU" sz="2200">
                        <a:latin typeface="Cambria Math"/>
                      </a:rPr>
                      <m:t>𝐽</m:t>
                    </m:r>
                    <m:r>
                      <a:rPr lang="ru-RU" sz="2200">
                        <a:latin typeface="Cambria Math"/>
                      </a:rPr>
                      <m:t>(</m:t>
                    </m:r>
                    <m:r>
                      <a:rPr lang="ru-RU" sz="2200">
                        <a:latin typeface="Cambria Math"/>
                      </a:rPr>
                      <m:t>𝜃</m:t>
                    </m:r>
                    <m:r>
                      <a:rPr lang="ru-RU" sz="2200">
                        <a:latin typeface="Cambria Math"/>
                      </a:rPr>
                      <m:t>)=</m:t>
                    </m:r>
                    <m:f>
                      <m:fPr>
                        <m:ctrlPr>
                          <a:rPr lang="ar-A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200"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ar-AE" sz="2200">
                            <a:latin typeface="Cambria Math"/>
                          </a:rPr>
                          <m:t>2</m:t>
                        </m:r>
                        <m:r>
                          <a:rPr lang="ar-AE" sz="2200">
                            <a:latin typeface="Cambria Math"/>
                          </a:rPr>
                          <m:t>𝑚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ctrlPr>
                          <a:rPr lang="ar-AE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sz="2200">
                            <a:latin typeface="Cambria Math"/>
                          </a:rPr>
                          <m:t>𝑖</m:t>
                        </m:r>
                        <m:r>
                          <a:rPr lang="ar-AE" sz="2200">
                            <a:latin typeface="Cambria Math"/>
                          </a:rPr>
                          <m:t>=</m:t>
                        </m:r>
                        <m:r>
                          <a:rPr lang="ar-AE" sz="2200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ar-AE" sz="2200">
                            <a:latin typeface="Cambria Math"/>
                          </a:rPr>
                          <m:t>𝑚</m:t>
                        </m:r>
                      </m:sup>
                      <m:e>
                        <m:r>
                          <a:rPr lang="ar-AE" sz="2200">
                            <a:latin typeface="Cambria Math"/>
                          </a:rPr>
                          <m:t>(</m:t>
                        </m:r>
                        <m:sSub>
                          <m:sSub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200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ar-AE" sz="2200">
                                <a:latin typeface="Cambria Math"/>
                              </a:rPr>
                              <m:t>𝜃</m:t>
                            </m:r>
                          </m:sub>
                        </m:sSub>
                        <m:r>
                          <a:rPr lang="ar-AE" sz="2200">
                            <a:latin typeface="Cambria Math"/>
                          </a:rPr>
                          <m:t>(</m:t>
                        </m:r>
                        <m:sSup>
                          <m:sSup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200">
                                <a:latin typeface="Cambria Math"/>
                              </a:rPr>
                              <m:t>𝑥</m:t>
                            </m:r>
                          </m:e>
                          <m:sup>
                            <m:r>
                              <a:rPr lang="ar-AE" sz="2200">
                                <a:latin typeface="Cambria Math"/>
                              </a:rPr>
                              <m:t>(</m:t>
                            </m:r>
                            <m:r>
                              <a:rPr lang="ar-AE" sz="2200">
                                <a:latin typeface="Cambria Math"/>
                              </a:rPr>
                              <m:t>𝑖</m:t>
                            </m:r>
                            <m:r>
                              <a:rPr lang="ar-AE" sz="2200">
                                <a:latin typeface="Cambria Math"/>
                              </a:rPr>
                              <m:t>)</m:t>
                            </m:r>
                          </m:sup>
                        </m:sSup>
                        <m:r>
                          <a:rPr lang="ar-AE" sz="2200">
                            <a:latin typeface="Cambria Math"/>
                          </a:rPr>
                          <m:t>)−</m:t>
                        </m:r>
                        <m:sSup>
                          <m:sSup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200">
                                <a:latin typeface="Cambria Math"/>
                              </a:rPr>
                              <m:t>𝑦</m:t>
                            </m:r>
                          </m:e>
                          <m:sup>
                            <m:r>
                              <a:rPr lang="ar-AE" sz="2200">
                                <a:latin typeface="Cambria Math"/>
                              </a:rPr>
                              <m:t>(</m:t>
                            </m:r>
                            <m:r>
                              <a:rPr lang="ar-AE" sz="2200">
                                <a:latin typeface="Cambria Math"/>
                              </a:rPr>
                              <m:t>𝑖</m:t>
                            </m:r>
                            <m:r>
                              <a:rPr lang="ar-AE" sz="2200">
                                <a:latin typeface="Cambria Math"/>
                              </a:rPr>
                              <m:t>)</m:t>
                            </m:r>
                          </m:sup>
                        </m:sSup>
                        <m:sSup>
                          <m:sSup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200">
                                <a:latin typeface="Cambria Math"/>
                              </a:rPr>
                              <m:t>)</m:t>
                            </m:r>
                          </m:e>
                          <m:sup>
                            <m:r>
                              <a:rPr lang="ar-AE" sz="220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sz="2200" b="0" i="0" dirty="0">
                  <a:latin typeface="Bookman Old Style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432000"/>
                <a:ext cx="12192000" cy="5994000"/>
              </a:xfrm>
              <a:blipFill rotWithShape="0">
                <a:blip r:embed="rId2"/>
                <a:stretch>
                  <a:fillRect t="-6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000"/>
          </a:xfrm>
          <a:solidFill>
            <a:srgbClr val="EBF0F8"/>
          </a:solidFill>
        </p:spPr>
        <p:txBody>
          <a:bodyPr wrap="square" lIns="0" tIns="46800" rIns="0" bIns="46800" anchor="ctr">
            <a:spAutoFit/>
          </a:bodyPr>
          <a:lstStyle/>
          <a:p>
            <a:r>
              <a:rPr sz="2800" b="1" i="0">
                <a:solidFill>
                  <a:srgbClr val="264673"/>
                </a:solidFill>
                <a:latin typeface="Bookman Old Style"/>
              </a:rPr>
              <a:t>2. Алгоритм обновления весов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0" y="432000"/>
                <a:ext cx="12192000" cy="5994000"/>
              </a:xfrm>
            </p:spPr>
            <p:txBody>
              <a:bodyPr wrap="square" lIns="360000" tIns="46800" rIns="360000" bIns="46800" anchor="t">
                <a:noAutofit/>
              </a:bodyPr>
              <a:lstStyle/>
              <a:p>
                <a:pPr marL="0" indent="0">
                  <a:buNone/>
                </a:pPr>
                <a:r>
                  <a:rPr sz="2200" b="0" i="0">
                    <a:latin typeface="Bookman Old Style"/>
                  </a:rPr>
                  <a:t>Чтобы прийти к минимуму, мы делаем шаги в сторону, противоположную вектору градиента. Правило обновления для каждого параметра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00">
                            <a:latin typeface="Cambria Math"/>
                          </a:rPr>
                          <m:t>𝜃</m:t>
                        </m:r>
                      </m:e>
                      <m:sub>
                        <m:r>
                          <a:rPr sz="2200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2200" b="0" i="0">
                    <a:latin typeface="Bookman Old Style"/>
                  </a:rPr>
                  <a:t> выглядит следующим образом: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200">
                              <a:latin typeface="Cambria Math"/>
                            </a:rPr>
                            <m:t>𝜃</m:t>
                          </m:r>
                        </m:e>
                        <m:sub>
                          <m:r>
                            <a:rPr sz="220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sz="2200">
                          <a:latin typeface="Cambria Math"/>
                        </a:rPr>
                        <m:t>:=</m:t>
                      </m:r>
                      <m:sSub>
                        <m:sSubPr>
                          <m:ctrlPr>
                            <a:rPr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200">
                              <a:latin typeface="Cambria Math"/>
                            </a:rPr>
                            <m:t>𝜃</m:t>
                          </m:r>
                        </m:e>
                        <m:sub>
                          <m:r>
                            <a:rPr sz="220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sz="2200">
                          <a:latin typeface="Cambria Math"/>
                        </a:rPr>
                        <m:t>−</m:t>
                      </m:r>
                      <m:r>
                        <a:rPr sz="2200">
                          <a:latin typeface="Cambria Math"/>
                        </a:rPr>
                        <m:t>𝛼</m:t>
                      </m:r>
                      <m:f>
                        <m:fPr>
                          <m:ctrlPr>
                            <a:rPr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200">
                              <a:latin typeface="Cambria Math"/>
                            </a:rPr>
                            <m:t>𝜕</m:t>
                          </m:r>
                        </m:num>
                        <m:den>
                          <m:r>
                            <a:rPr sz="2200">
                              <a:latin typeface="Cambria Math"/>
                            </a:rPr>
                            <m:t>𝜕</m:t>
                          </m:r>
                          <m:sSub>
                            <m:sSubPr>
                              <m:ctrlPr>
                                <a:rPr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200">
                                  <a:latin typeface="Cambria Math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200"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sz="2200">
                          <a:latin typeface="Cambria Math"/>
                        </a:rPr>
                        <m:t>𝐽</m:t>
                      </m:r>
                      <m:r>
                        <a:rPr sz="2200">
                          <a:latin typeface="Cambria Math"/>
                        </a:rPr>
                        <m:t>(</m:t>
                      </m:r>
                      <m:r>
                        <a:rPr sz="2200">
                          <a:latin typeface="Cambria Math"/>
                        </a:rPr>
                        <m:t>𝜃</m:t>
                      </m:r>
                      <m:r>
                        <a:rPr sz="220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2200" b="0" i="0">
                  <a:latin typeface="Bookman Old Style"/>
                </a:endParaRPr>
              </a:p>
              <a:p>
                <a:pPr marL="0" indent="0">
                  <a:buNone/>
                </a:pPr>
                <a:r>
                  <a:rPr sz="2200" b="0" i="0">
                    <a:latin typeface="Bookman Old Style"/>
                  </a:rPr>
                  <a:t>Где:</a:t>
                </a:r>
              </a:p>
              <a:p>
                <a:pPr>
                  <a:lnSpc>
                    <a:spcPct val="115000"/>
                  </a:lnSpc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sz="2200">
                        <a:latin typeface="Cambria Math"/>
                      </a:rPr>
                      <m:t>𝛼</m:t>
                    </m:r>
                  </m:oMath>
                </a14:m>
                <a:r>
                  <a:rPr sz="2200" b="0" i="0">
                    <a:latin typeface="Bookman Old Style"/>
                  </a:rPr>
                  <a:t> — скорость обучения (</a:t>
                </a:r>
                <a:r>
                  <a:rPr sz="2200" b="0" i="1">
                    <a:latin typeface="Bookman Old Style"/>
                  </a:rPr>
                  <a:t>learning rate</a:t>
                </a:r>
                <a:r>
                  <a:rPr sz="2200" b="0" i="0">
                    <a:latin typeface="Bookman Old Style"/>
                  </a:rPr>
                  <a:t>).</a:t>
                </a:r>
              </a:p>
              <a:p>
                <a:pPr>
                  <a:lnSpc>
                    <a:spcPct val="115000"/>
                  </a:lnSpc>
                  <a:spcAft>
                    <a:spcPts val="0"/>
                  </a:spcAft>
                </a:pPr>
                <a14:m>
                  <m:oMath xmlns:m="http://schemas.openxmlformats.org/officeDocument/2006/math">
                    <m:f>
                      <m:fPr>
                        <m:ctrlPr>
                          <a:rPr sz="220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200">
                            <a:latin typeface="Cambria Math"/>
                          </a:rPr>
                          <m:t>𝜕</m:t>
                        </m:r>
                      </m:num>
                      <m:den>
                        <m:r>
                          <a:rPr sz="2200">
                            <a:latin typeface="Cambria Math"/>
                          </a:rPr>
                          <m:t>𝜕</m:t>
                        </m:r>
                        <m:sSub>
                          <m:sSubPr>
                            <m:ctrlPr>
                              <a:rPr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200">
                                <a:latin typeface="Cambria Math"/>
                              </a:rPr>
                              <m:t>𝜃</m:t>
                            </m:r>
                          </m:e>
                          <m:sub>
                            <m:r>
                              <a:rPr sz="2200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den>
                    </m:f>
                    <m:r>
                      <a:rPr sz="2200">
                        <a:latin typeface="Cambria Math"/>
                      </a:rPr>
                      <m:t>𝐽</m:t>
                    </m:r>
                    <m:r>
                      <a:rPr sz="2200">
                        <a:latin typeface="Cambria Math"/>
                      </a:rPr>
                      <m:t>(</m:t>
                    </m:r>
                    <m:r>
                      <a:rPr sz="2200">
                        <a:latin typeface="Cambria Math"/>
                      </a:rPr>
                      <m:t>𝜃</m:t>
                    </m:r>
                    <m:r>
                      <a:rPr sz="2200">
                        <a:latin typeface="Cambria Math"/>
                      </a:rPr>
                      <m:t>)</m:t>
                    </m:r>
                  </m:oMath>
                </a14:m>
                <a:r>
                  <a:rPr sz="2200" b="0" i="0">
                    <a:latin typeface="Bookman Old Style"/>
                  </a:rPr>
                  <a:t> — частная производная функции по параметру.</a:t>
                </a:r>
              </a:p>
              <a:p>
                <a:pPr marL="0" indent="0">
                  <a:buNone/>
                </a:pPr>
                <a:r>
                  <a:rPr sz="2200" b="0" i="0">
                    <a:latin typeface="Bookman Old Style"/>
                  </a:rPr>
                  <a:t>В векторном виде:
</a:t>
                </a:r>
                <a14:m>
                  <m:oMath xmlns:m="http://schemas.openxmlformats.org/officeDocument/2006/math">
                    <m:r>
                      <a:rPr sz="2200">
                        <a:latin typeface="Cambria Math"/>
                      </a:rPr>
                      <m:t>𝜃</m:t>
                    </m:r>
                    <m:r>
                      <a:rPr sz="2200">
                        <a:latin typeface="Cambria Math"/>
                      </a:rPr>
                      <m:t>:=</m:t>
                    </m:r>
                    <m:r>
                      <a:rPr sz="2200">
                        <a:latin typeface="Cambria Math"/>
                      </a:rPr>
                      <m:t>𝜃</m:t>
                    </m:r>
                    <m:r>
                      <a:rPr sz="2200">
                        <a:latin typeface="Cambria Math"/>
                      </a:rPr>
                      <m:t>−</m:t>
                    </m:r>
                    <m:r>
                      <a:rPr sz="2200">
                        <a:latin typeface="Cambria Math"/>
                      </a:rPr>
                      <m:t>𝛼</m:t>
                    </m:r>
                    <m:sSub>
                      <m:sSubPr>
                        <m:ctrlPr>
                          <a:rPr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00">
                            <a:latin typeface="Cambria Math"/>
                          </a:rPr>
                          <m:t>𝛻</m:t>
                        </m:r>
                      </m:e>
                      <m:sub>
                        <m:r>
                          <a:rPr sz="2200">
                            <a:latin typeface="Cambria Math"/>
                          </a:rPr>
                          <m:t>𝜃</m:t>
                        </m:r>
                      </m:sub>
                    </m:sSub>
                    <m:r>
                      <a:rPr sz="2200">
                        <a:latin typeface="Cambria Math"/>
                      </a:rPr>
                      <m:t>𝐽</m:t>
                    </m:r>
                    <m:r>
                      <a:rPr sz="2200">
                        <a:latin typeface="Cambria Math"/>
                      </a:rPr>
                      <m:t>(</m:t>
                    </m:r>
                    <m:r>
                      <a:rPr sz="2200">
                        <a:latin typeface="Cambria Math"/>
                      </a:rPr>
                      <m:t>𝜃</m:t>
                    </m:r>
                    <m:r>
                      <a:rPr sz="2200">
                        <a:latin typeface="Cambria Math"/>
                      </a:rPr>
                      <m:t>)</m:t>
                    </m:r>
                  </m:oMath>
                </a14:m>
                <a:endParaRPr sz="2200" b="0" i="0">
                  <a:latin typeface="Bookman Old Style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432000"/>
                <a:ext cx="12192000" cy="5994000"/>
              </a:xfrm>
              <a:blipFill rotWithShape="0">
                <a:blip r:embed="rId2"/>
                <a:stretch>
                  <a:fillRect t="-6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000"/>
          </a:xfrm>
          <a:solidFill>
            <a:srgbClr val="EBF0F8"/>
          </a:solidFill>
        </p:spPr>
        <p:txBody>
          <a:bodyPr wrap="square" lIns="0" tIns="46800" rIns="0" bIns="46800" anchor="ctr">
            <a:spAutoFit/>
          </a:bodyPr>
          <a:lstStyle/>
          <a:p>
            <a:r>
              <a:rPr sz="2800" b="1" i="0">
                <a:solidFill>
                  <a:srgbClr val="264673"/>
                </a:solidFill>
                <a:latin typeface="Bookman Old Style"/>
              </a:rPr>
              <a:t>3. Вектор градиента и сходимость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0" y="432000"/>
                <a:ext cx="12192000" cy="5994000"/>
              </a:xfrm>
            </p:spPr>
            <p:txBody>
              <a:bodyPr wrap="square" lIns="360000" tIns="46800" rIns="360000" bIns="46800" anchor="t">
                <a:noAutofit/>
              </a:bodyPr>
              <a:lstStyle/>
              <a:p>
                <a:pPr marL="0" indent="0">
                  <a:buNone/>
                </a:pPr>
                <a:r>
                  <a:rPr sz="2200" b="0" i="0" dirty="0" err="1">
                    <a:latin typeface="Bookman Old Style"/>
                  </a:rPr>
                  <a:t>Градиент</a:t>
                </a:r>
                <a:r>
                  <a:rPr sz="2200" b="0" i="0" dirty="0">
                    <a:latin typeface="Bookman Old Style"/>
                  </a:rPr>
                  <a:t> </a:t>
                </a:r>
                <a14:m>
                  <m:oMath xmlns:m="http://schemas.openxmlformats.org/officeDocument/2006/math">
                    <m:r>
                      <a:rPr sz="2200">
                        <a:latin typeface="Cambria Math"/>
                      </a:rPr>
                      <m:t>𝛻</m:t>
                    </m:r>
                    <m:r>
                      <a:rPr sz="2200">
                        <a:latin typeface="Cambria Math"/>
                      </a:rPr>
                      <m:t>𝑓</m:t>
                    </m:r>
                  </m:oMath>
                </a14:m>
                <a:r>
                  <a:rPr sz="2200" b="0" i="0" dirty="0">
                    <a:latin typeface="Bookman Old Style"/>
                  </a:rPr>
                  <a:t> — </a:t>
                </a:r>
                <a:r>
                  <a:rPr sz="2200" b="0" i="0" dirty="0" err="1">
                    <a:latin typeface="Bookman Old Style"/>
                  </a:rPr>
                  <a:t>это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вектор</a:t>
                </a:r>
                <a:r>
                  <a:rPr sz="2200" b="0" i="0" dirty="0">
                    <a:latin typeface="Bookman Old Style"/>
                  </a:rPr>
                  <a:t>, </a:t>
                </a:r>
                <a:r>
                  <a:rPr sz="2200" b="0" i="0" dirty="0" err="1">
                    <a:latin typeface="Bookman Old Style"/>
                  </a:rPr>
                  <a:t>указывающий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направление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наискорейшего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роста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функции</a:t>
                </a:r>
                <a:r>
                  <a:rPr sz="2200" b="0" i="0" dirty="0">
                    <a:latin typeface="Bookman Old Style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200">
                          <a:latin typeface="Cambria Math"/>
                        </a:rPr>
                        <m:t>𝛻</m:t>
                      </m:r>
                      <m:r>
                        <a:rPr sz="2200">
                          <a:latin typeface="Cambria Math"/>
                        </a:rPr>
                        <m:t>𝑓</m:t>
                      </m:r>
                      <m:r>
                        <a:rPr sz="2200">
                          <a:latin typeface="Cambria Math"/>
                        </a:rPr>
                        <m:t>(</m:t>
                      </m:r>
                      <m:r>
                        <a:rPr sz="2200">
                          <a:latin typeface="Cambria Math"/>
                        </a:rPr>
                        <m:t>𝑥</m:t>
                      </m:r>
                      <m:r>
                        <a:rPr sz="2200">
                          <a:latin typeface="Cambria Math"/>
                        </a:rPr>
                        <m:t>)=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/>
                            </m:mr>
                            <m:mr>
                              <m:e/>
                            </m:mr>
                            <m:mr>
                              <m:e/>
                            </m:mr>
                          </m:m>
                        </m:e>
                      </m:d>
                      <m:r>
                        <a:rPr lang="ru-RU" sz="2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sz="2200">
                          <a:latin typeface="Cambria Math"/>
                        </a:rPr>
                        <m:t>[</m:t>
                      </m:r>
                      <m:eqArr>
                        <m:eqArrPr>
                          <m:ctrlPr>
                            <a:rPr sz="22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f>
                            <m:fPr>
                              <m:ctrlPr>
                                <a:rPr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2200">
                                  <a:latin typeface="Cambria Math"/>
                                </a:rPr>
                                <m:t>𝜕</m:t>
                              </m:r>
                              <m:r>
                                <a:rPr sz="2200">
                                  <a:latin typeface="Cambria Math"/>
                                </a:rPr>
                                <m:t>𝑓</m:t>
                              </m:r>
                            </m:num>
                            <m:den>
                              <m:r>
                                <a:rPr sz="2200">
                                  <a:latin typeface="Cambria Math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20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220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  <m:e>
                          <m:r>
                            <a:rPr sz="2200">
                              <a:latin typeface="Cambria Math"/>
                            </a:rPr>
                            <m:t>⋮</m:t>
                          </m:r>
                        </m:e>
                        <m:e>
                          <m:f>
                            <m:fPr>
                              <m:ctrlPr>
                                <a:rPr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2200">
                                  <a:latin typeface="Cambria Math"/>
                                </a:rPr>
                                <m:t>𝜕</m:t>
                              </m:r>
                              <m:r>
                                <a:rPr sz="2200">
                                  <a:latin typeface="Cambria Math"/>
                                </a:rPr>
                                <m:t>𝑓</m:t>
                              </m:r>
                            </m:num>
                            <m:den>
                              <m:r>
                                <a:rPr sz="2200">
                                  <a:latin typeface="Cambria Math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20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2200">
                                      <a:latin typeface="Cambria Math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</m:e>
                      </m:eqArr>
                      <m:r>
                        <a:rPr sz="2200">
                          <a:latin typeface="Cambria Math"/>
                        </a:rPr>
                        <m:t>]</m:t>
                      </m:r>
                    </m:oMath>
                  </m:oMathPara>
                </a14:m>
                <a:endParaRPr sz="2200" b="0" i="0" dirty="0">
                  <a:latin typeface="Bookman Old Style"/>
                </a:endParaRPr>
              </a:p>
              <a:p>
                <a:pPr marL="0" indent="0">
                  <a:buNone/>
                </a:pPr>
                <a:r>
                  <a:rPr sz="2200" b="1" i="0" dirty="0" err="1">
                    <a:latin typeface="Bookman Old Style"/>
                  </a:rPr>
                  <a:t>Условия</a:t>
                </a:r>
                <a:r>
                  <a:rPr sz="2200" b="1" i="0" dirty="0">
                    <a:latin typeface="Bookman Old Style"/>
                  </a:rPr>
                  <a:t> </a:t>
                </a:r>
                <a:r>
                  <a:rPr sz="2200" b="1" i="0" dirty="0" err="1">
                    <a:latin typeface="Bookman Old Style"/>
                  </a:rPr>
                  <a:t>успешной</a:t>
                </a:r>
                <a:r>
                  <a:rPr sz="2200" b="1" i="0" dirty="0">
                    <a:latin typeface="Bookman Old Style"/>
                  </a:rPr>
                  <a:t> </a:t>
                </a:r>
                <a:r>
                  <a:rPr sz="2200" b="1" i="0" dirty="0" err="1">
                    <a:latin typeface="Bookman Old Style"/>
                  </a:rPr>
                  <a:t>оптимизации</a:t>
                </a:r>
                <a:r>
                  <a:rPr sz="2200" b="1" i="0" dirty="0">
                    <a:latin typeface="Bookman Old Style"/>
                  </a:rPr>
                  <a:t>:</a:t>
                </a:r>
              </a:p>
              <a:p>
                <a:pPr>
                  <a:lnSpc>
                    <a:spcPct val="115000"/>
                  </a:lnSpc>
                  <a:spcAft>
                    <a:spcPts val="0"/>
                  </a:spcAft>
                </a:pPr>
                <a:r>
                  <a:rPr sz="2200" b="0" i="0" dirty="0" err="1">
                    <a:latin typeface="Bookman Old Style"/>
                  </a:rPr>
                  <a:t>Если</a:t>
                </a:r>
                <a:r>
                  <a:rPr sz="2200" b="0" i="0" dirty="0">
                    <a:latin typeface="Bookman Old Style"/>
                  </a:rPr>
                  <a:t> </a:t>
                </a:r>
                <a14:m>
                  <m:oMath xmlns:m="http://schemas.openxmlformats.org/officeDocument/2006/math">
                    <m:r>
                      <a:rPr sz="2200">
                        <a:latin typeface="Cambria Math"/>
                      </a:rPr>
                      <m:t>𝛼</m:t>
                    </m:r>
                  </m:oMath>
                </a14:m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слишком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велико</a:t>
                </a:r>
                <a:r>
                  <a:rPr sz="2200" b="0" i="0" dirty="0">
                    <a:latin typeface="Bookman Old Style"/>
                  </a:rPr>
                  <a:t>, </a:t>
                </a:r>
                <a:r>
                  <a:rPr sz="2200" b="0" i="0" dirty="0" err="1">
                    <a:latin typeface="Bookman Old Style"/>
                  </a:rPr>
                  <a:t>алгоритм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может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расходиться</a:t>
                </a:r>
                <a:r>
                  <a:rPr sz="2200" b="0" i="0" dirty="0">
                    <a:latin typeface="Bookman Old Style"/>
                  </a:rPr>
                  <a:t>.</a:t>
                </a:r>
              </a:p>
              <a:p>
                <a:pPr>
                  <a:lnSpc>
                    <a:spcPct val="115000"/>
                  </a:lnSpc>
                  <a:spcAft>
                    <a:spcPts val="0"/>
                  </a:spcAft>
                </a:pPr>
                <a:r>
                  <a:rPr sz="2200" b="0" i="0" dirty="0" err="1">
                    <a:latin typeface="Bookman Old Style"/>
                  </a:rPr>
                  <a:t>Если</a:t>
                </a:r>
                <a:r>
                  <a:rPr sz="2200" b="0" i="0" dirty="0">
                    <a:latin typeface="Bookman Old Style"/>
                  </a:rPr>
                  <a:t> </a:t>
                </a:r>
                <a14:m>
                  <m:oMath xmlns:m="http://schemas.openxmlformats.org/officeDocument/2006/math">
                    <m:r>
                      <a:rPr sz="2200">
                        <a:latin typeface="Cambria Math"/>
                      </a:rPr>
                      <m:t>𝛼</m:t>
                    </m:r>
                  </m:oMath>
                </a14:m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слишком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мало</a:t>
                </a:r>
                <a:r>
                  <a:rPr sz="2200" b="0" i="0" dirty="0">
                    <a:latin typeface="Bookman Old Style"/>
                  </a:rPr>
                  <a:t>, </a:t>
                </a:r>
                <a:r>
                  <a:rPr sz="2200" b="0" i="0" dirty="0" err="1">
                    <a:latin typeface="Bookman Old Style"/>
                  </a:rPr>
                  <a:t>обучение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будет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идти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слишком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медленно</a:t>
                </a:r>
                <a:r>
                  <a:rPr sz="2200" b="0" i="0" dirty="0">
                    <a:latin typeface="Bookman Old Style"/>
                  </a:rPr>
                  <a:t>.</a:t>
                </a:r>
              </a:p>
              <a:p>
                <a:pPr>
                  <a:lnSpc>
                    <a:spcPct val="115000"/>
                  </a:lnSpc>
                  <a:spcAft>
                    <a:spcPts val="0"/>
                  </a:spcAft>
                </a:pPr>
                <a:r>
                  <a:rPr sz="2200" b="0" i="0" dirty="0">
                    <a:latin typeface="Bookman Old Style"/>
                  </a:rPr>
                  <a:t>В </a:t>
                </a:r>
                <a:r>
                  <a:rPr sz="2200" b="0" i="0" dirty="0" err="1">
                    <a:latin typeface="Bookman Old Style"/>
                  </a:rPr>
                  <a:t>точке</a:t>
                </a:r>
                <a:r>
                  <a:rPr sz="2200" b="0" i="0" dirty="0">
                    <a:latin typeface="Bookman Old Style"/>
                  </a:rPr>
                  <a:t> </a:t>
                </a:r>
                <a:r>
                  <a:rPr sz="2200" b="0" i="0" dirty="0" err="1">
                    <a:latin typeface="Bookman Old Style"/>
                  </a:rPr>
                  <a:t>минимума</a:t>
                </a:r>
                <a:r>
                  <a:rPr sz="2200" b="0" i="0" dirty="0">
                    <a:latin typeface="Bookman Old Style"/>
                  </a:rPr>
                  <a:t> </a:t>
                </a:r>
                <a14:m>
                  <m:oMath xmlns:m="http://schemas.openxmlformats.org/officeDocument/2006/math">
                    <m:r>
                      <a:rPr sz="2200">
                        <a:latin typeface="Cambria Math"/>
                      </a:rPr>
                      <m:t>𝛻</m:t>
                    </m:r>
                    <m:r>
                      <a:rPr sz="2200">
                        <a:latin typeface="Cambria Math"/>
                      </a:rPr>
                      <m:t>𝐽</m:t>
                    </m:r>
                    <m:r>
                      <a:rPr sz="2200">
                        <a:latin typeface="Cambria Math"/>
                      </a:rPr>
                      <m:t>(</m:t>
                    </m:r>
                    <m:r>
                      <a:rPr sz="2200">
                        <a:latin typeface="Cambria Math"/>
                      </a:rPr>
                      <m:t>𝜃</m:t>
                    </m:r>
                    <m:r>
                      <a:rPr sz="2200">
                        <a:latin typeface="Cambria Math"/>
                      </a:rPr>
                      <m:t>)≈</m:t>
                    </m:r>
                    <m:r>
                      <a:rPr sz="2200">
                        <a:latin typeface="Cambria Math"/>
                      </a:rPr>
                      <m:t>0</m:t>
                    </m:r>
                  </m:oMath>
                </a14:m>
                <a:r>
                  <a:rPr sz="2200" b="0" i="0" dirty="0">
                    <a:latin typeface="Bookman Old Style"/>
                  </a:rPr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432000"/>
                <a:ext cx="12192000" cy="5994000"/>
              </a:xfrm>
              <a:blipFill rotWithShape="0">
                <a:blip r:embed="rId2"/>
                <a:stretch>
                  <a:fillRect t="-6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112</Words>
  <Application>Microsoft Office PowerPoint</Application>
  <PresentationFormat>Широкоэкранный</PresentationFormat>
  <Paragraphs>31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Bookman Old Style</vt:lpstr>
      <vt:lpstr>Calibri</vt:lpstr>
      <vt:lpstr>Cambria Math</vt:lpstr>
      <vt:lpstr>Office Theme</vt:lpstr>
      <vt:lpstr>Презентация PowerPoint</vt:lpstr>
      <vt:lpstr>Градиентный спуск в машинном обучении</vt:lpstr>
      <vt:lpstr>1. Постановка задачи</vt:lpstr>
      <vt:lpstr>2. Алгоритм обновления весов</vt:lpstr>
      <vt:lpstr>3. Вектор градиента и сходимость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m10</cp:lastModifiedBy>
  <cp:revision>2</cp:revision>
  <dcterms:created xsi:type="dcterms:W3CDTF">2013-01-27T09:14:16Z</dcterms:created>
  <dcterms:modified xsi:type="dcterms:W3CDTF">2026-04-30T12:36:12Z</dcterms:modified>
  <cp:category/>
</cp:coreProperties>
</file>