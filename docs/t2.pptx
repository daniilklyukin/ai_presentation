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12192000" cy="2286000"/>
          </a:xfrm>
        </p:spPr>
        <p:txBody>
          <a:bodyPr wrap="square" anchor="t" lIns="360000" rIns="360000" tIns="46800" bIns="46800">
            <a:no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marp: true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theme: default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paginate: true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backgroundColor: #fff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Градиентный спуск в машинном обучении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Автор:</a:t>
            </a:r>
            <a:r>
              <a:rPr sz="2200" b="0" i="0">
                <a:latin typeface="Bookman Old Style"/>
              </a:rPr>
              <a:t> Искусственный Интеллект</a:t>
            </a:r>
            <a:r>
              <a:rPr sz="2200" b="0" i="0">
                <a:latin typeface="Bookman Old Style"/>
              </a:rPr>
              <a:t>
</a:t>
            </a:r>
            <a:r>
              <a:rPr sz="2200" b="1" i="0">
                <a:latin typeface="Bookman Old Style"/>
              </a:rPr>
              <a:t>Дата:</a:t>
            </a:r>
            <a:r>
              <a:rPr sz="2200" b="0" i="0">
                <a:latin typeface="Bookman Old Style"/>
              </a:rPr>
              <a:t>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1. Постановка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Мы ищем минимум функции потерь 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J(θ)</m:t>
                  </m:r>
                </m:oMath>
              </m:oMathPara>
            </ns0:m>
            <a:r>
              <a:rPr sz="2200" b="0" i="0">
                <a:latin typeface="Bookman Old Style"/>
              </a:rPr>
              <a:t>, которая определяет ошибку предсказания модели. Наша цель — найти такие параметры 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θ</m:t>
                  </m:r>
                </m:oMath>
              </m:oMathPara>
            </ns0:m>
            <a:r>
              <a:rPr sz="2200" b="0" i="0">
                <a:latin typeface="Bookman Old Style"/>
              </a:rPr>
              <a:t>, при которых значение функции минимально:</a:t>
            </a:r>
          </a:p>
          <a:p>
            <a:pPr marL="0" indent="0">
              <a:buNone/>
              <a:lnSpc>
                <a:spcPct val="115000"/>
              </a:lnSpc>
            </a:pP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sSup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θ</m:t>
                      </m:r>
                    </m:e>
                    <m:sup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*</m:t>
                      </m:r>
                    </m:sup>
                  </m:sSup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=</m:t>
                  </m:r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rPr>
                      <m:sty m:val="p"/>
                    </m:rPr>
                    <m:t>\arg</m:t>
                  </m:r>
                  <m:sSub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min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θ</m:t>
                      </m:r>
                    </m:sub>
                  </m:sSub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J(θ)</m:t>
                  </m:r>
                </m:oMath>
              </m:oMathPara>
            </ns0:m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Для линейной регрессии функция потерь (MSE) выглядит так:</a:t>
            </a:r>
            <a:r>
              <a:rPr sz="2200" b="0" i="0">
                <a:latin typeface="Bookman Old Style"/>
              </a:rPr>
              <a:t>
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J(θ)=</m:t>
                  </m:r>
                  <m:f>
                    <m:fPr>
                      <m:type m:val="bar"/>
                    </m:fPr>
                    <m:num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1</m:t>
                      </m:r>
                    </m:num>
                    <m:den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2m</m:t>
                      </m:r>
                    </m:den>
                  </m:f>
                  <m:nary>
                    <m:naryPr>
                      <m:chr m:val="∑"/>
                      <m:limLoc m:val="subSup"/>
                      <m:grow m:val="1"/>
                      <m:subHide m:val="off"/>
                      <m:supHide m:val="off"/>
                    </m:naryPr>
                    <m:sub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i=1</m:t>
                      </m:r>
                    </m:sub>
                    <m:sup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m</m:t>
                      </m:r>
                    </m:sup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θ</m:t>
                          </m:r>
                        </m:sub>
                      </m:sSub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(i)</m:t>
                          </m:r>
                        </m:sup>
                      </m:sSup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)−</m:t>
                      </m:r>
                      <m:sSup>
                        <m:e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y</m:t>
                          </m:r>
                        </m:e>
                        <m:sup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(i)</m:t>
                          </m:r>
                        </m:sup>
                      </m:sSup>
                      <m:sSup>
                        <m:e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2</m:t>
                          </m:r>
                        </m:sup>
                      </m:sSup>
                    </m:e>
                  </m:nary>
                </m:oMath>
              </m:oMathPara>
            </ns0:m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2. Алгоритм обновления весов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Чтобы прийти к минимуму, мы делаем шаги в сторону, противоположную вектору градиента. Правило обновления для каждого параметра 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sSub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θ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j</m:t>
                      </m:r>
                    </m:sub>
                  </m:sSub>
                </m:oMath>
              </m:oMathPara>
            </ns0:m>
            <a:r>
              <a:rPr sz="2200" b="0" i="0">
                <a:latin typeface="Bookman Old Style"/>
              </a:rPr>
              <a:t> выглядит следующим образом:</a:t>
            </a:r>
          </a:p>
          <a:p>
            <a:pPr marL="0" indent="0">
              <a:buNone/>
              <a:lnSpc>
                <a:spcPct val="115000"/>
              </a:lnSpc>
            </a:pP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sSub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θ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j</m:t>
                      </m:r>
                    </m:sub>
                  </m:sSub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:=</m:t>
                  </m:r>
                  <m:sSub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θ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j</m:t>
                      </m:r>
                    </m:sub>
                  </m:sSub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−α</m:t>
                  </m:r>
                  <m:f>
                    <m:fPr>
                      <m:type m:val="bar"/>
                    </m:fPr>
                    <m:num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∂</m:t>
                      </m:r>
                    </m:num>
                    <m:den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∂</m:t>
                      </m:r>
                      <m:sSub>
                        <m:e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j</m:t>
                          </m:r>
                        </m:sub>
                      </m:sSub>
                    </m:den>
                  </m:f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J(θ)</m:t>
                  </m:r>
                </m:oMath>
              </m:oMathPara>
            </ns0:m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Где: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α</m:t>
                  </m:r>
                </m:oMath>
              </m:oMathPara>
            </ns0:m>
            <a:r>
              <a:rPr sz="2200" b="0" i="0">
                <a:latin typeface="Bookman Old Style"/>
              </a:rPr>
              <a:t> — скорость обучения (</a:t>
            </a:r>
            <a:r>
              <a:rPr sz="2200" b="0" i="1">
                <a:latin typeface="Bookman Old Style"/>
              </a:rPr>
              <a:t>learning rate</a:t>
            </a:r>
            <a:r>
              <a:rPr sz="2200" b="0" i="0">
                <a:latin typeface="Bookman Old Style"/>
              </a:rPr>
              <a:t>).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f>
                    <m:fPr>
                      <m:type m:val="bar"/>
                    </m:fPr>
                    <m:num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∂</m:t>
                      </m:r>
                    </m:num>
                    <m:den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∂</m:t>
                      </m:r>
                      <m:sSub>
                        <m:e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j</m:t>
                          </m:r>
                        </m:sub>
                      </m:sSub>
                    </m:den>
                  </m:f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J(θ)</m:t>
                  </m:r>
                </m:oMath>
              </m:oMathPara>
            </ns0:m>
            <a:r>
              <a:rPr sz="2200" b="0" i="0">
                <a:latin typeface="Bookman Old Style"/>
              </a:rPr>
              <a:t> — частная производная функции по параметру.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В векторном виде:</a:t>
            </a:r>
            <a:r>
              <a:rPr sz="2200" b="0" i="0">
                <a:latin typeface="Bookman Old Style"/>
              </a:rPr>
              <a:t>
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θ:=θ−α</m:t>
                  </m:r>
                  <m:sSub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∇</m:t>
                      </m:r>
                    </m:e>
                    <m:sub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θ</m:t>
                      </m:r>
                    </m:sub>
                  </m:sSub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J(θ)</m:t>
                  </m:r>
                </m:oMath>
              </m:oMathPara>
            </ns0:m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3. Вектор градиента и сходимость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Градиент 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∇f</m:t>
                  </m:r>
                </m:oMath>
              </m:oMathPara>
            </ns0:m>
            <a:r>
              <a:rPr sz="2200" b="0" i="0">
                <a:latin typeface="Bookman Old Style"/>
              </a:rPr>
              <a:t> — это вектор, указывающий направление наискорейшего роста функции:</a:t>
            </a:r>
          </a:p>
          <a:p>
            <a:pPr marL="0" indent="0">
              <a:buNone/>
              <a:lnSpc>
                <a:spcPct val="115000"/>
              </a:lnSpc>
            </a:pP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∇f(x)=</m:t>
                  </m:r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[</m:t>
                  </m:r>
                  <m:eqArr>
                    <m:e>
                      <m:f>
                        <m:fPr>
                          <m:type m:val="bar"/>
                        </m:fPr>
                        <m:num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∂f</m:t>
                          </m:r>
                        </m:num>
                        <m:den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sz="2200">
                                  <a:latin typeface="Cambria Math"/>
                                </a:rPr>
                                <a:rPr sz="22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sz="2200">
                                  <a:latin typeface="Cambria Math"/>
                                </a:rPr>
                                <a:rPr sz="220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e>
                    <m:e>
                      <m:r>
                        <a:rPr sz="2200">
                          <a:latin typeface="Cambria Math"/>
                        </a:rPr>
                        <a:rPr sz="2200">
                          <a:latin typeface="Cambria Math"/>
                        </a:rPr>
                        <m:t>⋮</m:t>
                      </m:r>
                    </m:e>
                    <m:e>
                      <m:f>
                        <m:fPr>
                          <m:type m:val="bar"/>
                        </m:fPr>
                        <m:num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∂f</m:t>
                          </m:r>
                        </m:num>
                        <m:den>
                          <m:r>
                            <a:rPr sz="2200">
                              <a:latin typeface="Cambria Math"/>
                            </a:rPr>
                            <a:rPr sz="2200">
                              <a:latin typeface="Cambria Math"/>
                            </a:rPr>
                            <m:t>∂</m:t>
                          </m:r>
                          <m:sSub>
                            <m:e>
                              <m:r>
                                <a:rPr sz="2200">
                                  <a:latin typeface="Cambria Math"/>
                                </a:rPr>
                                <a:rPr sz="2200"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sz="2200">
                                  <a:latin typeface="Cambria Math"/>
                                </a:rPr>
                                <a:rPr sz="2200"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</m:e>
                  </m:eqArr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]</m:t>
                  </m:r>
                </m:oMath>
              </m:oMathPara>
            </ns0:m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Условия успешной оптимизации: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α</m:t>
                  </m:r>
                </m:oMath>
              </m:oMathPara>
            </ns0:m>
            <a:r>
              <a:rPr sz="2200" b="0" i="0">
                <a:latin typeface="Bookman Old Style"/>
              </a:rPr>
              <a:t> слишком велико, алгоритм может расходиться.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Если 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α</m:t>
                  </m:r>
                </m:oMath>
              </m:oMathPara>
            </ns0:m>
            <a:r>
              <a:rPr sz="2200" b="0" i="0">
                <a:latin typeface="Bookman Old Style"/>
              </a:rPr>
              <a:t> слишком мало, обучение будет идти слишком медленно.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В точке минимума </a:t>
            </a:r>
            <ns0:m xmlns:ns0="http://schemas.microsoft.com/office/drawing/2010/main">
              <m:oMathPara xmlns:m="http://schemas.openxmlformats.org/officeDocument/2006/math">
                <m:oMath xmlns:mml="http://www.w3.org/1998/Math/MathML">
                  <m:r>
                    <a:rPr sz="2200">
                      <a:latin typeface="Cambria Math"/>
                    </a:rPr>
                    <a:rPr sz="2200">
                      <a:latin typeface="Cambria Math"/>
                    </a:rPr>
                    <m:t>∇J(θ)≈0</m:t>
                  </m:r>
                </m:oMath>
              </m:oMathPara>
            </ns0:m>
            <a:r>
              <a:rPr sz="2200" b="0" i="0">
                <a:latin typeface="Bookman Old Sty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