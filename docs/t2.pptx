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12192000" cy="2286000"/>
          </a:xfrm>
        </p:spPr>
        <p:txBody>
          <a:bodyPr wrap="square" anchor="t" lIns="360000" rIns="360000" tIns="46800" bIns="46800">
            <a:noAutofit/>
          </a:bodyPr>
          <a:lstStyle/>
          <a:p>
            <a:pPr algn="ctr" marL="0" indent="0">
              <a:buNone/>
              <a:lnSpc>
                <a:spcPct val="115000"/>
              </a:lnSpc>
            </a:pPr>
            <a:r>
              <a:rPr sz="2200" b="0" i="0">
                <a:latin typeface="Bookman Old Style"/>
              </a:rPr>
              <a:t>marp: true</a:t>
            </a:r>
            <a:r>
              <a:rPr sz="2200" b="0" i="0">
                <a:latin typeface="Bookman Old Style"/>
              </a:rPr>
              <a:t>
</a:t>
            </a:r>
            <a:r>
              <a:rPr sz="2200" b="0" i="0">
                <a:latin typeface="Bookman Old Style"/>
              </a:rPr>
              <a:t>theme: default</a:t>
            </a:r>
            <a:r>
              <a:rPr sz="2200" b="0" i="0">
                <a:latin typeface="Bookman Old Style"/>
              </a:rPr>
              <a:t>
</a:t>
            </a:r>
            <a:r>
              <a:rPr sz="2200" b="0" i="0">
                <a:latin typeface="Bookman Old Style"/>
              </a:rPr>
              <a:t>paginate: true</a:t>
            </a:r>
            <a:r>
              <a:rPr sz="2200" b="0" i="0">
                <a:latin typeface="Bookman Old Style"/>
              </a:rPr>
              <a:t>
</a:t>
            </a:r>
            <a:r>
              <a:rPr sz="2200" b="0" i="0">
                <a:latin typeface="Bookman Old Style"/>
              </a:rPr>
              <a:t>backgroundColor: #fff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anchor="ctr" lIns="0" rIns="0" tIns="46800" bIns="46800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Градиентный спуск в машинном обучении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32000"/>
            <a:ext cx="12192000" cy="5994000"/>
          </a:xfrm>
        </p:spPr>
        <p:txBody>
          <a:bodyPr wrap="square" anchor="t" lIns="360000" rIns="360000" tIns="46800" bIns="46800">
            <a:noAutofit/>
          </a:bodyPr>
          <a:lstStyle/>
          <a:p>
            <a:pPr marL="0" indent="0">
              <a:buNone/>
              <a:lnSpc>
                <a:spcPct val="115000"/>
              </a:lnSpc>
            </a:pPr>
            <a:r>
              <a:rPr sz="2200" b="1" i="0">
                <a:latin typeface="Bookman Old Style"/>
              </a:rPr>
              <a:t>Автор:</a:t>
            </a:r>
            <a:r>
              <a:rPr sz="2200" b="0" i="0">
                <a:latin typeface="Bookman Old Style"/>
              </a:rPr>
              <a:t> Искусственный Интеллект</a:t>
            </a:r>
            <a:r>
              <a:rPr sz="2200" b="0" i="0">
                <a:latin typeface="Bookman Old Style"/>
              </a:rPr>
              <a:t>
</a:t>
            </a:r>
            <a:r>
              <a:rPr sz="2200" b="1" i="0">
                <a:latin typeface="Bookman Old Style"/>
              </a:rPr>
              <a:t>Дата:</a:t>
            </a:r>
            <a:r>
              <a:rPr sz="2200" b="0" i="0">
                <a:latin typeface="Bookman Old Style"/>
              </a:rPr>
              <a:t>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anchor="ctr" lIns="0" rIns="0" tIns="46800" bIns="46800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1. Постановка задачи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32000"/>
            <a:ext cx="12192000" cy="5994000"/>
          </a:xfrm>
        </p:spPr>
        <p:txBody>
          <a:bodyPr wrap="square" anchor="t" lIns="360000" rIns="360000" tIns="46800" bIns="46800">
            <a:noAutofit/>
          </a:bodyPr>
          <a:lstStyle/>
          <a:p>
            <a:pPr marL="0" indent="0">
              <a:buNone/>
              <a:lnSpc>
                <a:spcPct val="115000"/>
              </a:lnSpc>
            </a:pPr>
            <a:r>
              <a:rPr sz="2200" b="0" i="0">
                <a:latin typeface="Bookman Old Style"/>
              </a:rPr>
              <a:t>Мы ищем минимум функции потерь </a:t>
            </a:r>
            <m:oMath xmlns:m="http://schemas.openxmlformats.org/officeDocument/2006/math" xmlns:mml="http://www.w3.org/1998/Math/MathML">
              <m:r>
                <m:t>J(θ)</m:t>
              </m:r>
            </m:oMath>
            <a:r>
              <a:rPr sz="2200" b="0" i="0">
                <a:latin typeface="Bookman Old Style"/>
              </a:rPr>
              <a:t>, которая определяет ошибку предсказания модели. Наша цель — найти такие параметры </a:t>
            </a:r>
            <m:oMath xmlns:m="http://schemas.openxmlformats.org/officeDocument/2006/math" xmlns:mml="http://www.w3.org/1998/Math/MathML">
              <m:r>
                <m:t>θ</m:t>
              </m:r>
            </m:oMath>
            <a:r>
              <a:rPr sz="2200" b="0" i="0">
                <a:latin typeface="Bookman Old Style"/>
              </a:rPr>
              <a:t>, при которых значение функции минимально:</a:t>
            </a:r>
          </a:p>
          <a:p>
            <a:pPr marL="0" indent="0">
              <a:buNone/>
              <a:lnSpc>
                <a:spcPct val="115000"/>
              </a:lnSpc>
            </a:pPr>
            <m:oMath xmlns:m="http://schemas.openxmlformats.org/officeDocument/2006/math" xmlns:mml="http://www.w3.org/1998/Math/MathML">
              <m:sSup>
                <m:e>
                  <m:r>
                    <m:t>θ</m:t>
                  </m:r>
                </m:e>
                <m:sup>
                  <m:r>
                    <m:t>*</m:t>
                  </m:r>
                </m:sup>
              </m:sSup>
              <m:r>
                <m:t>=</m:t>
              </m:r>
              <m:r>
                <m:rPr>
                  <m:sty m:val="p"/>
                  <m:sz m:val="44"/>
                  <m:rFonts m:ascii="Cambria Math" m:hAnsi="Cambria Math"/>
                </m:rPr>
                <m:t>\arg</m:t>
              </m:r>
              <m:sSub>
                <m:e>
                  <m:r>
                    <m:t>min</m:t>
                  </m:r>
                </m:e>
                <m:sub>
                  <m:r>
                    <m:t>θ</m:t>
                  </m:r>
                </m:sub>
              </m:sSub>
              <m:r>
                <m:t>J(θ)</m:t>
              </m:r>
            </m:oMath>
          </a:p>
          <a:p>
            <a:pPr marL="0" indent="0">
              <a:buNone/>
              <a:lnSpc>
                <a:spcPct val="115000"/>
              </a:lnSpc>
            </a:pPr>
            <a:r>
              <a:rPr sz="2200" b="0" i="0">
                <a:latin typeface="Bookman Old Style"/>
              </a:rPr>
              <a:t>Для линейной регрессии функция потерь (MSE) выглядит так:</a:t>
            </a:r>
            <a:r>
              <a:rPr sz="2200" b="0" i="0">
                <a:latin typeface="Bookman Old Style"/>
              </a:rPr>
              <a:t>
</a:t>
            </a:r>
            <m:oMath xmlns:m="http://schemas.openxmlformats.org/officeDocument/2006/math" xmlns:mml="http://www.w3.org/1998/Math/MathML">
              <m:r>
                <m:t>J(θ)=</m:t>
              </m:r>
              <m:f>
                <m:fPr>
                  <m:type m:val="bar"/>
                </m:fPr>
                <m:num>
                  <m:r>
                    <m:t>1</m:t>
                  </m:r>
                </m:num>
                <m:den>
                  <m:r>
                    <m:t>2m</m:t>
                  </m:r>
                </m:den>
              </m:f>
              <m:nary>
                <m:naryPr>
                  <m:chr m:val="∑"/>
                  <m:limLoc m:val="subSup"/>
                  <m:grow m:val="1"/>
                  <m:subHide m:val="off"/>
                  <m:supHide m:val="off"/>
                </m:naryPr>
                <m:sub>
                  <m:r>
                    <m:t>i=1</m:t>
                  </m:r>
                </m:sub>
                <m:sup>
                  <m:r>
                    <m:t>m</m:t>
                  </m:r>
                </m:sup>
                <m:e/>
              </m:nary>
              <m:r>
                <m:t>(</m:t>
              </m:r>
              <m:sSub>
                <m:e>
                  <m:r>
                    <m:t>h</m:t>
                  </m:r>
                </m:e>
                <m:sub>
                  <m:r>
                    <m:t>θ</m:t>
                  </m:r>
                </m:sub>
              </m:sSub>
              <m:r>
                <m:t>(</m:t>
              </m:r>
              <m:sSup>
                <m:e>
                  <m:r>
                    <m:t>x</m:t>
                  </m:r>
                </m:e>
                <m:sup>
                  <m:r>
                    <m:t>(i)</m:t>
                  </m:r>
                </m:sup>
              </m:sSup>
              <m:r>
                <m:t>)−</m:t>
              </m:r>
              <m:sSup>
                <m:e>
                  <m:r>
                    <m:t>y</m:t>
                  </m:r>
                </m:e>
                <m:sup>
                  <m:r>
                    <m:t>(i)</m:t>
                  </m:r>
                </m:sup>
              </m:sSup>
              <m:sSup>
                <m:e>
                  <m:r>
                    <m:t>)</m:t>
                  </m:r>
                </m:e>
                <m:sup>
                  <m:r>
                    <m:t>2</m:t>
                  </m:r>
                </m:sup>
              </m:sSup>
            </m:oMath>
          </a:p>
        </p:txBody>
      </p:sp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anchor="ctr" lIns="0" rIns="0" tIns="46800" bIns="46800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2. Алгоритм обновления весов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32000"/>
            <a:ext cx="12192000" cy="5994000"/>
          </a:xfrm>
        </p:spPr>
        <p:txBody>
          <a:bodyPr wrap="square" anchor="t" lIns="360000" rIns="360000" tIns="46800" bIns="46800">
            <a:noAutofit/>
          </a:bodyPr>
          <a:lstStyle/>
          <a:p>
            <a:pPr marL="0" indent="0">
              <a:buNone/>
              <a:lnSpc>
                <a:spcPct val="115000"/>
              </a:lnSpc>
            </a:pPr>
            <a:r>
              <a:rPr sz="2200" b="0" i="0">
                <a:latin typeface="Bookman Old Style"/>
              </a:rPr>
              <a:t>Чтобы прийти к минимуму, мы делаем шаги в сторону, противоположную вектору градиента. Правило обновления для каждого параметра </a:t>
            </a:r>
            <m:oMath xmlns:m="http://schemas.openxmlformats.org/officeDocument/2006/math" xmlns:mml="http://www.w3.org/1998/Math/MathML">
              <m:sSub>
                <m:e>
                  <m:r>
                    <m:t>θ</m:t>
                  </m:r>
                </m:e>
                <m:sub>
                  <m:r>
                    <m:t>j</m:t>
                  </m:r>
                </m:sub>
              </m:sSub>
            </m:oMath>
            <a:r>
              <a:rPr sz="2200" b="0" i="0">
                <a:latin typeface="Bookman Old Style"/>
              </a:rPr>
              <a:t> выглядит следующим образом:</a:t>
            </a:r>
          </a:p>
          <a:p>
            <a:pPr marL="0" indent="0">
              <a:buNone/>
              <a:lnSpc>
                <a:spcPct val="115000"/>
              </a:lnSpc>
            </a:pPr>
            <m:oMath xmlns:m="http://schemas.openxmlformats.org/officeDocument/2006/math" xmlns:mml="http://www.w3.org/1998/Math/MathML">
              <m:sSub>
                <m:e>
                  <m:r>
                    <m:t>θ</m:t>
                  </m:r>
                </m:e>
                <m:sub>
                  <m:r>
                    <m:t>j</m:t>
                  </m:r>
                </m:sub>
              </m:sSub>
              <m:r>
                <m:t>:=</m:t>
              </m:r>
              <m:sSub>
                <m:e>
                  <m:r>
                    <m:t>θ</m:t>
                  </m:r>
                </m:e>
                <m:sub>
                  <m:r>
                    <m:t>j</m:t>
                  </m:r>
                </m:sub>
              </m:sSub>
              <m:r>
                <m:t>−α</m:t>
              </m:r>
              <m:f>
                <m:fPr>
                  <m:type m:val="bar"/>
                </m:fPr>
                <m:num>
                  <m:r>
                    <m:t>∂</m:t>
                  </m:r>
                </m:num>
                <m:den>
                  <m:r>
                    <m:t>∂</m:t>
                  </m:r>
                  <m:sSub>
                    <m:e>
                      <m:r>
                        <m:t>θ</m:t>
                      </m:r>
                    </m:e>
                    <m:sub>
                      <m:r>
                        <m:t>j</m:t>
                      </m:r>
                    </m:sub>
                  </m:sSub>
                </m:den>
              </m:f>
              <m:r>
                <m:t>J(θ)</m:t>
              </m:r>
            </m:oMath>
          </a:p>
          <a:p>
            <a:pPr marL="0" indent="0">
              <a:buNone/>
              <a:lnSpc>
                <a:spcPct val="115000"/>
              </a:lnSpc>
            </a:pPr>
            <a:r>
              <a:rPr sz="2200" b="0" i="0">
                <a:latin typeface="Bookman Old Style"/>
              </a:rPr>
              <a:t>Где: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m:oMath xmlns:m="http://schemas.openxmlformats.org/officeDocument/2006/math" xmlns:mml="http://www.w3.org/1998/Math/MathML">
              <m:r>
                <m:t>α</m:t>
              </m:r>
            </m:oMath>
            <a:r>
              <a:rPr sz="2200" b="0" i="0">
                <a:latin typeface="Bookman Old Style"/>
              </a:rPr>
              <a:t> — скорость обучения (</a:t>
            </a:r>
            <a:r>
              <a:rPr sz="2200" b="0" i="1">
                <a:latin typeface="Bookman Old Style"/>
              </a:rPr>
              <a:t>learning rate</a:t>
            </a:r>
            <a:r>
              <a:rPr sz="2200" b="0" i="0">
                <a:latin typeface="Bookman Old Style"/>
              </a:rPr>
              <a:t>).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m:oMath xmlns:m="http://schemas.openxmlformats.org/officeDocument/2006/math" xmlns:mml="http://www.w3.org/1998/Math/MathML">
              <m:f>
                <m:fPr>
                  <m:type m:val="bar"/>
                </m:fPr>
                <m:num>
                  <m:r>
                    <m:t>∂</m:t>
                  </m:r>
                </m:num>
                <m:den>
                  <m:r>
                    <m:t>∂</m:t>
                  </m:r>
                  <m:sSub>
                    <m:e>
                      <m:r>
                        <m:t>θ</m:t>
                      </m:r>
                    </m:e>
                    <m:sub>
                      <m:r>
                        <m:t>j</m:t>
                      </m:r>
                    </m:sub>
                  </m:sSub>
                </m:den>
              </m:f>
              <m:r>
                <m:t>J(θ)</m:t>
              </m:r>
            </m:oMath>
            <a:r>
              <a:rPr sz="2200" b="0" i="0">
                <a:latin typeface="Bookman Old Style"/>
              </a:rPr>
              <a:t> — частная производная функции по параметру.</a:t>
            </a:r>
          </a:p>
          <a:p>
            <a:pPr marL="0" indent="0">
              <a:buNone/>
              <a:lnSpc>
                <a:spcPct val="115000"/>
              </a:lnSpc>
            </a:pPr>
            <a:r>
              <a:rPr sz="2200" b="0" i="0">
                <a:latin typeface="Bookman Old Style"/>
              </a:rPr>
              <a:t>В векторном виде:</a:t>
            </a:r>
            <a:r>
              <a:rPr sz="2200" b="0" i="0">
                <a:latin typeface="Bookman Old Style"/>
              </a:rPr>
              <a:t>
</a:t>
            </a:r>
            <m:oMath xmlns:m="http://schemas.openxmlformats.org/officeDocument/2006/math" xmlns:mml="http://www.w3.org/1998/Math/MathML">
              <m:r>
                <m:t>θ:=θ−α</m:t>
              </m:r>
              <m:sSub>
                <m:e>
                  <m:r>
                    <m:t>∇</m:t>
                  </m:r>
                </m:e>
                <m:sub>
                  <m:r>
                    <m:t>θ</m:t>
                  </m:r>
                </m:sub>
              </m:sSub>
              <m:r>
                <m:t>J(θ)</m:t>
              </m:r>
            </m:oMath>
          </a:p>
        </p:txBody>
      </p:sp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432000"/>
          </a:xfrm>
          <a:solidFill>
            <a:srgbClr val="EBF0F8"/>
          </a:solidFill>
        </p:spPr>
        <p:txBody>
          <a:bodyPr wrap="square" anchor="ctr" lIns="0" rIns="0" tIns="46800" bIns="46800">
            <a:spAutoFit/>
          </a:bodyPr>
          <a:lstStyle/>
          <a:p>
            <a:r>
              <a:rPr sz="2800" b="1" i="0">
                <a:solidFill>
                  <a:srgbClr val="264673"/>
                </a:solidFill>
                <a:latin typeface="Bookman Old Style"/>
              </a:rPr>
              <a:t>3. Вектор градиента и сходимость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432000"/>
            <a:ext cx="12192000" cy="5994000"/>
          </a:xfrm>
        </p:spPr>
        <p:txBody>
          <a:bodyPr wrap="square" anchor="t" lIns="360000" rIns="360000" tIns="46800" bIns="46800">
            <a:noAutofit/>
          </a:bodyPr>
          <a:lstStyle/>
          <a:p>
            <a:pPr marL="0" indent="0">
              <a:buNone/>
              <a:lnSpc>
                <a:spcPct val="115000"/>
              </a:lnSpc>
            </a:pPr>
            <a:r>
              <a:rPr sz="2200" b="0" i="0">
                <a:latin typeface="Bookman Old Style"/>
              </a:rPr>
              <a:t>Градиент </a:t>
            </a:r>
            <m:oMath xmlns:m="http://schemas.openxmlformats.org/officeDocument/2006/math" xmlns:mml="http://www.w3.org/1998/Math/MathML">
              <m:r>
                <m:t>∇f</m:t>
              </m:r>
            </m:oMath>
            <a:r>
              <a:rPr sz="2200" b="0" i="0">
                <a:latin typeface="Bookman Old Style"/>
              </a:rPr>
              <a:t> — это вектор, указывающий направление наискорейшего роста функции:</a:t>
            </a:r>
          </a:p>
          <a:p>
            <a:pPr marL="0" indent="0">
              <a:buNone/>
              <a:lnSpc>
                <a:spcPct val="115000"/>
              </a:lnSpc>
            </a:pPr>
            <m:oMath xmlns:m="http://schemas.openxmlformats.org/officeDocument/2006/math" xmlns:mml="http://www.w3.org/1998/Math/MathML">
              <m:r>
                <m:t>∇f(x)=[</m:t>
              </m:r>
              <m:eqArr>
                <m:e>
                  <m:f>
                    <m:fPr>
                      <m:type m:val="bar"/>
                    </m:fPr>
                    <m:num>
                      <m:r>
                        <m:t>∂f</m:t>
                      </m:r>
                    </m:num>
                    <m:den>
                      <m:r>
                        <m:t>∂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den>
                  </m:f>
                </m:e>
                <m:e>
                  <m:r>
                    <m:t>⋮</m:t>
                  </m:r>
                </m:e>
                <m:e>
                  <m:f>
                    <m:fPr>
                      <m:type m:val="bar"/>
                    </m:fPr>
                    <m:num>
                      <m:r>
                        <m:t>∂f</m:t>
                      </m:r>
                    </m:num>
                    <m:den>
                      <m:r>
                        <m:t>∂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</m:den>
                  </m:f>
                </m:e>
              </m:eqArr>
              <m:r>
                <m:t>]</m:t>
              </m:r>
            </m:oMath>
          </a:p>
          <a:p>
            <a:pPr marL="0" indent="0">
              <a:buNone/>
              <a:lnSpc>
                <a:spcPct val="115000"/>
              </a:lnSpc>
            </a:pPr>
            <a:r>
              <a:rPr sz="2200" b="1" i="0">
                <a:latin typeface="Bookman Old Style"/>
              </a:rPr>
              <a:t>Условия успешной оптимизации: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latin typeface="Bookman Old Style"/>
              </a:rPr>
              <a:t>Если </a:t>
            </a:r>
            <m:oMath xmlns:m="http://schemas.openxmlformats.org/officeDocument/2006/math" xmlns:mml="http://www.w3.org/1998/Math/MathML">
              <m:r>
                <m:t>α</m:t>
              </m:r>
            </m:oMath>
            <a:r>
              <a:rPr sz="2200" b="0" i="0">
                <a:latin typeface="Bookman Old Style"/>
              </a:rPr>
              <a:t> слишком велико, алгоритм может расходиться.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latin typeface="Bookman Old Style"/>
              </a:rPr>
              <a:t>Если </a:t>
            </a:r>
            <m:oMath xmlns:m="http://schemas.openxmlformats.org/officeDocument/2006/math" xmlns:mml="http://www.w3.org/1998/Math/MathML">
              <m:r>
                <m:t>α</m:t>
              </m:r>
            </m:oMath>
            <a:r>
              <a:rPr sz="2200" b="0" i="0">
                <a:latin typeface="Bookman Old Style"/>
              </a:rPr>
              <a:t> слишком мало, обучение будет идти слишком медленно.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latin typeface="Bookman Old Style"/>
              </a:rPr>
              <a:t>В точке минимума </a:t>
            </a:r>
            <m:oMath xmlns:m="http://schemas.openxmlformats.org/officeDocument/2006/math" xmlns:mml="http://www.w3.org/1998/Math/MathML">
              <m:r>
                <m:t>∇J(θ)≈0</m:t>
              </m:r>
            </m:oMath>
            <a:r>
              <a:rPr sz="2200" b="0" i="0">
                <a:latin typeface="Bookman Old Sty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426000"/>
            <a:ext cx="11112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200">
                <a:latin typeface="Bookman Old Style"/>
              </a:defRPr>
            </a:pPr>
            <a:r>
              <a:t>Клюкин Д.А.</a:t>
            </a:r>
          </a:p>
        </p:txBody>
      </p:sp>
      <p:sp>
        <p:nvSpPr>
          <p:cNvPr id="5" name="SlideNumberBox"/>
          <p:cNvSpPr txBox="1"/>
          <p:nvPr/>
        </p:nvSpPr>
        <p:spPr>
          <a:xfrm>
            <a:off x="11112000" y="6426000"/>
            <a:ext cx="1080000" cy="432000"/>
          </a:xfrm>
          <a:prstGeom prst="rect">
            <a:avLst/>
          </a:prstGeom>
          <a:noFill/>
          <a:ln w="12700">
            <a:solidFill>
              <a:srgbClr val="264673"/>
            </a:solidFill>
          </a:ln>
        </p:spPr>
        <p:txBody>
          <a:bodyPr wrap="none">
            <a:spAutoFit/>
          </a:bodyPr>
          <a:lstStyle/>
          <a:p>
            <a:pPr algn="ctr">
              <a:defRPr sz="1400" b="1">
                <a:latin typeface="Bookman Old Style"/>
              </a:defRPr>
            </a:pPr>
            <a: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